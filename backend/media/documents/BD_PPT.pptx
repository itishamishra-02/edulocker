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mbria Bold" charset="1" panose="02040803050406030204"/>
      <p:regular r:id="rId17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  <p:embeddedFont>
      <p:font typeface="Roboto" charset="1" panose="02000000000000000000"/>
      <p:regular r:id="rId20"/>
    </p:embeddedFont>
    <p:embeddedFont>
      <p:font typeface="Cambria" charset="1" panose="02040503050406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9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546" y="2834640"/>
            <a:ext cx="10241280" cy="4572000"/>
            <a:chOff x="0" y="0"/>
            <a:chExt cx="13655040" cy="609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55039" cy="6096000"/>
            </a:xfrm>
            <a:custGeom>
              <a:avLst/>
              <a:gdLst/>
              <a:ahLst/>
              <a:cxnLst/>
              <a:rect r="r" b="b" t="t" l="l"/>
              <a:pathLst>
                <a:path h="60960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78" t="0" r="-7278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655040" cy="610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YouTube Processes Billions of User Data Along with User 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77223" y="1816103"/>
            <a:ext cx="6609083" cy="6609083"/>
            <a:chOff x="0" y="0"/>
            <a:chExt cx="8812111" cy="8812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2149" cy="8812149"/>
            </a:xfrm>
            <a:custGeom>
              <a:avLst/>
              <a:gdLst/>
              <a:ahLst/>
              <a:cxnLst/>
              <a:rect r="r" b="b" t="t" l="l"/>
              <a:pathLst>
                <a:path h="8812149" w="8812149">
                  <a:moveTo>
                    <a:pt x="0" y="4406011"/>
                  </a:moveTo>
                  <a:cubicBezTo>
                    <a:pt x="0" y="1972691"/>
                    <a:pt x="1972691" y="0"/>
                    <a:pt x="4406011" y="0"/>
                  </a:cubicBezTo>
                  <a:cubicBezTo>
                    <a:pt x="6839331" y="0"/>
                    <a:pt x="8812149" y="1972691"/>
                    <a:pt x="8812149" y="4406011"/>
                  </a:cubicBezTo>
                  <a:cubicBezTo>
                    <a:pt x="8812149" y="6839331"/>
                    <a:pt x="6839458" y="8812149"/>
                    <a:pt x="4406011" y="8812149"/>
                  </a:cubicBezTo>
                  <a:cubicBezTo>
                    <a:pt x="1972564" y="8812149"/>
                    <a:pt x="0" y="6839458"/>
                    <a:pt x="0" y="4406011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48823" y="3187703"/>
            <a:ext cx="3865883" cy="3865883"/>
            <a:chOff x="0" y="0"/>
            <a:chExt cx="5154511" cy="5154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454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154549">
                  <a:moveTo>
                    <a:pt x="0" y="2577211"/>
                  </a:moveTo>
                  <a:cubicBezTo>
                    <a:pt x="0" y="1153922"/>
                    <a:pt x="1153922" y="0"/>
                    <a:pt x="2577211" y="0"/>
                  </a:cubicBezTo>
                  <a:cubicBezTo>
                    <a:pt x="4000500" y="0"/>
                    <a:pt x="5154549" y="1153922"/>
                    <a:pt x="5154549" y="2577211"/>
                  </a:cubicBezTo>
                  <a:cubicBezTo>
                    <a:pt x="5154549" y="4000500"/>
                    <a:pt x="4000627" y="5154549"/>
                    <a:pt x="2577211" y="5154549"/>
                  </a:cubicBezTo>
                  <a:cubicBezTo>
                    <a:pt x="1153795" y="5154549"/>
                    <a:pt x="0" y="4000627"/>
                    <a:pt x="0" y="257721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533120" y="4480560"/>
            <a:ext cx="1188720" cy="1188720"/>
            <a:chOff x="0" y="0"/>
            <a:chExt cx="1584960" cy="158496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60103" y="2090423"/>
            <a:ext cx="1214123" cy="1214123"/>
            <a:chOff x="0" y="0"/>
            <a:chExt cx="161883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81867" y="2412187"/>
            <a:ext cx="570586" cy="570586"/>
            <a:chOff x="0" y="0"/>
            <a:chExt cx="760781" cy="76078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806423" y="2913383"/>
            <a:ext cx="1214123" cy="1214123"/>
            <a:chOff x="0" y="0"/>
            <a:chExt cx="1618831" cy="1618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128187" y="3235147"/>
            <a:ext cx="570586" cy="570586"/>
            <a:chOff x="0" y="0"/>
            <a:chExt cx="760781" cy="76078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-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166343" y="7028183"/>
            <a:ext cx="1214123" cy="1214123"/>
            <a:chOff x="0" y="0"/>
            <a:chExt cx="1618831" cy="1618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488107" y="7349947"/>
            <a:ext cx="570586" cy="570586"/>
            <a:chOff x="0" y="0"/>
            <a:chExt cx="760781" cy="76078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" b="-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25863" y="6845303"/>
            <a:ext cx="1214123" cy="1214123"/>
            <a:chOff x="0" y="0"/>
            <a:chExt cx="1618831" cy="1618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47627" y="7167067"/>
            <a:ext cx="570586" cy="570586"/>
            <a:chOff x="0" y="0"/>
            <a:chExt cx="760781" cy="760781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" b="-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YouTube as a Big Data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16484603" cy="1305563"/>
            <a:chOff x="0" y="0"/>
            <a:chExt cx="21979471" cy="1740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298450"/>
                  </a:moveTo>
                  <a:cubicBezTo>
                    <a:pt x="0" y="133604"/>
                    <a:pt x="133604" y="0"/>
                    <a:pt x="298450" y="0"/>
                  </a:cubicBezTo>
                  <a:lnTo>
                    <a:pt x="21681060" y="0"/>
                  </a:lnTo>
                  <a:cubicBezTo>
                    <a:pt x="21845905" y="0"/>
                    <a:pt x="21979510" y="133604"/>
                    <a:pt x="21979510" y="298450"/>
                  </a:cubicBezTo>
                  <a:lnTo>
                    <a:pt x="21979510" y="1442339"/>
                  </a:lnTo>
                  <a:cubicBezTo>
                    <a:pt x="21979510" y="1607185"/>
                    <a:pt x="21845905" y="1740789"/>
                    <a:pt x="21681060" y="1740789"/>
                  </a:cubicBezTo>
                  <a:lnTo>
                    <a:pt x="298450" y="1740789"/>
                  </a:lnTo>
                  <a:cubicBezTo>
                    <a:pt x="133604" y="1740789"/>
                    <a:pt x="0" y="1607185"/>
                    <a:pt x="0" y="144233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21159" y="2602487"/>
            <a:ext cx="1012955" cy="1012955"/>
            <a:chOff x="0" y="0"/>
            <a:chExt cx="1350607" cy="1350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0621" y="2871949"/>
            <a:ext cx="474021" cy="474021"/>
            <a:chOff x="0" y="0"/>
            <a:chExt cx="632028" cy="63202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60320" y="2468880"/>
            <a:ext cx="14447520" cy="1280160"/>
            <a:chOff x="0" y="0"/>
            <a:chExt cx="1926336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633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26336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YouTube generates enormous data through views, searches, likes, comments, subscriptions and watch history.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4010663"/>
            <a:ext cx="16484603" cy="1305563"/>
            <a:chOff x="0" y="0"/>
            <a:chExt cx="21979471" cy="1740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298450"/>
                  </a:moveTo>
                  <a:cubicBezTo>
                    <a:pt x="0" y="133604"/>
                    <a:pt x="133604" y="0"/>
                    <a:pt x="298450" y="0"/>
                  </a:cubicBezTo>
                  <a:lnTo>
                    <a:pt x="21681060" y="0"/>
                  </a:lnTo>
                  <a:cubicBezTo>
                    <a:pt x="21845905" y="0"/>
                    <a:pt x="21979510" y="133604"/>
                    <a:pt x="21979510" y="298450"/>
                  </a:cubicBezTo>
                  <a:lnTo>
                    <a:pt x="21979510" y="1442339"/>
                  </a:lnTo>
                  <a:cubicBezTo>
                    <a:pt x="21979510" y="1607185"/>
                    <a:pt x="21845905" y="1740789"/>
                    <a:pt x="21681060" y="1740789"/>
                  </a:cubicBezTo>
                  <a:lnTo>
                    <a:pt x="298450" y="1740789"/>
                  </a:lnTo>
                  <a:cubicBezTo>
                    <a:pt x="133604" y="1740789"/>
                    <a:pt x="0" y="1607185"/>
                    <a:pt x="0" y="144233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1159" y="4156967"/>
            <a:ext cx="1012955" cy="1012955"/>
            <a:chOff x="0" y="0"/>
            <a:chExt cx="1350607" cy="13506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90621" y="4426429"/>
            <a:ext cx="474021" cy="474021"/>
            <a:chOff x="0" y="0"/>
            <a:chExt cx="632028" cy="63202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60320" y="4023360"/>
            <a:ext cx="14447520" cy="1280160"/>
            <a:chOff x="0" y="0"/>
            <a:chExt cx="1926336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633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926336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activity provides signals about users’ interests and preferences.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5565143"/>
            <a:ext cx="16484603" cy="1305563"/>
            <a:chOff x="0" y="0"/>
            <a:chExt cx="21979471" cy="1740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298450"/>
                  </a:moveTo>
                  <a:cubicBezTo>
                    <a:pt x="0" y="133604"/>
                    <a:pt x="133604" y="0"/>
                    <a:pt x="298450" y="0"/>
                  </a:cubicBezTo>
                  <a:lnTo>
                    <a:pt x="21681060" y="0"/>
                  </a:lnTo>
                  <a:cubicBezTo>
                    <a:pt x="21845905" y="0"/>
                    <a:pt x="21979510" y="133604"/>
                    <a:pt x="21979510" y="298450"/>
                  </a:cubicBezTo>
                  <a:lnTo>
                    <a:pt x="21979510" y="1442339"/>
                  </a:lnTo>
                  <a:cubicBezTo>
                    <a:pt x="21979510" y="1607185"/>
                    <a:pt x="21845905" y="1740789"/>
                    <a:pt x="21681060" y="1740789"/>
                  </a:cubicBezTo>
                  <a:lnTo>
                    <a:pt x="298450" y="1740789"/>
                  </a:lnTo>
                  <a:cubicBezTo>
                    <a:pt x="133604" y="1740789"/>
                    <a:pt x="0" y="1607185"/>
                    <a:pt x="0" y="144233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21159" y="5711447"/>
            <a:ext cx="1012955" cy="1012955"/>
            <a:chOff x="0" y="0"/>
            <a:chExt cx="1350607" cy="13506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90621" y="5980909"/>
            <a:ext cx="474021" cy="474021"/>
            <a:chOff x="0" y="0"/>
            <a:chExt cx="632028" cy="63202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560320" y="5577840"/>
            <a:ext cx="14447520" cy="1280160"/>
            <a:chOff x="0" y="0"/>
            <a:chExt cx="1926336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633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926336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data at this scale requires highly scalable data-processing and machine-learning systems.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7119623"/>
            <a:ext cx="16484603" cy="1305563"/>
            <a:chOff x="0" y="0"/>
            <a:chExt cx="21979471" cy="17407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79510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979510">
                  <a:moveTo>
                    <a:pt x="0" y="298450"/>
                  </a:moveTo>
                  <a:cubicBezTo>
                    <a:pt x="0" y="133604"/>
                    <a:pt x="133604" y="0"/>
                    <a:pt x="298450" y="0"/>
                  </a:cubicBezTo>
                  <a:lnTo>
                    <a:pt x="21681060" y="0"/>
                  </a:lnTo>
                  <a:cubicBezTo>
                    <a:pt x="21845905" y="0"/>
                    <a:pt x="21979510" y="133604"/>
                    <a:pt x="21979510" y="298450"/>
                  </a:cubicBezTo>
                  <a:lnTo>
                    <a:pt x="21979510" y="1442339"/>
                  </a:lnTo>
                  <a:cubicBezTo>
                    <a:pt x="21979510" y="1607185"/>
                    <a:pt x="21845905" y="1740789"/>
                    <a:pt x="21681060" y="1740789"/>
                  </a:cubicBezTo>
                  <a:lnTo>
                    <a:pt x="298450" y="1740789"/>
                  </a:lnTo>
                  <a:cubicBezTo>
                    <a:pt x="133604" y="1740789"/>
                    <a:pt x="0" y="1607185"/>
                    <a:pt x="0" y="144233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21159" y="7265927"/>
            <a:ext cx="1012955" cy="1012955"/>
            <a:chOff x="0" y="0"/>
            <a:chExt cx="1350607" cy="13506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90621" y="7535389"/>
            <a:ext cx="474021" cy="474021"/>
            <a:chOff x="0" y="0"/>
            <a:chExt cx="632028" cy="63202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560320" y="7132320"/>
            <a:ext cx="14447520" cy="1280160"/>
            <a:chOff x="0" y="0"/>
            <a:chExt cx="19263360" cy="1706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633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926336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on YouTube’s recommender shows how user activity is used to personalize content.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Types of User Data and User 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193543"/>
            <a:ext cx="1854203" cy="1854203"/>
            <a:chOff x="0" y="0"/>
            <a:chExt cx="2472271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cubicBezTo>
                    <a:pt x="1918716" y="0"/>
                    <a:pt x="2472182" y="553466"/>
                    <a:pt x="2472182" y="1236091"/>
                  </a:cubicBezTo>
                  <a:cubicBezTo>
                    <a:pt x="2472182" y="1918716"/>
                    <a:pt x="1918716" y="2472182"/>
                    <a:pt x="1236091" y="2472182"/>
                  </a:cubicBezTo>
                  <a:cubicBezTo>
                    <a:pt x="553466" y="2472182"/>
                    <a:pt x="0" y="1918843"/>
                    <a:pt x="0" y="12360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89888" y="4681728"/>
            <a:ext cx="877824" cy="877824"/>
            <a:chOff x="0" y="0"/>
            <a:chExt cx="1170432" cy="117043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6151245"/>
            <a:ext cx="18288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1B1F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93543" y="3919223"/>
            <a:ext cx="3134363" cy="2402843"/>
            <a:chOff x="0" y="0"/>
            <a:chExt cx="4179151" cy="320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79189" cy="3203829"/>
            </a:xfrm>
            <a:custGeom>
              <a:avLst/>
              <a:gdLst/>
              <a:ahLst/>
              <a:cxnLst/>
              <a:rect r="r" b="b" t="t" l="l"/>
              <a:pathLst>
                <a:path h="3203829" w="417918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3883406" y="0"/>
                  </a:lnTo>
                  <a:cubicBezTo>
                    <a:pt x="4046728" y="0"/>
                    <a:pt x="4179189" y="132461"/>
                    <a:pt x="4179189" y="295783"/>
                  </a:cubicBezTo>
                  <a:lnTo>
                    <a:pt x="4179189" y="2908046"/>
                  </a:lnTo>
                  <a:cubicBezTo>
                    <a:pt x="4179189" y="3071368"/>
                    <a:pt x="4046728" y="3203829"/>
                    <a:pt x="3883406" y="3203829"/>
                  </a:cubicBezTo>
                  <a:lnTo>
                    <a:pt x="295783" y="3203829"/>
                  </a:lnTo>
                  <a:cubicBezTo>
                    <a:pt x="132461" y="3203829"/>
                    <a:pt x="0" y="3071368"/>
                    <a:pt x="0" y="2908046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12080" y="4206240"/>
            <a:ext cx="1097280" cy="1097280"/>
            <a:chOff x="0" y="0"/>
            <a:chExt cx="1463040" cy="14630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206240" y="5337810"/>
            <a:ext cx="31089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YouTube</a:t>
            </a:r>
          </a:p>
        </p:txBody>
      </p:sp>
      <p:sp>
        <p:nvSpPr>
          <p:cNvPr name="AutoShape 15" id="15"/>
          <p:cNvSpPr/>
          <p:nvPr/>
        </p:nvSpPr>
        <p:spPr>
          <a:xfrm rot="101340">
            <a:off x="2720645" y="5111115"/>
            <a:ext cx="150814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rot="-3032340">
            <a:off x="6755882" y="3995547"/>
            <a:ext cx="2947435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131303" y="2273303"/>
            <a:ext cx="8255003" cy="1232411"/>
            <a:chOff x="0" y="0"/>
            <a:chExt cx="11006671" cy="16432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06710" cy="1643380"/>
            </a:xfrm>
            <a:custGeom>
              <a:avLst/>
              <a:gdLst/>
              <a:ahLst/>
              <a:cxnLst/>
              <a:rect r="r" b="b" t="t" l="l"/>
              <a:pathLst>
                <a:path h="1643380" w="11006710">
                  <a:moveTo>
                    <a:pt x="0" y="298831"/>
                  </a:moveTo>
                  <a:cubicBezTo>
                    <a:pt x="0" y="133731"/>
                    <a:pt x="133731" y="0"/>
                    <a:pt x="298831" y="0"/>
                  </a:cubicBezTo>
                  <a:lnTo>
                    <a:pt x="10707878" y="0"/>
                  </a:lnTo>
                  <a:cubicBezTo>
                    <a:pt x="10872851" y="0"/>
                    <a:pt x="11006710" y="133731"/>
                    <a:pt x="11006710" y="298831"/>
                  </a:cubicBezTo>
                  <a:lnTo>
                    <a:pt x="11006710" y="1344549"/>
                  </a:lnTo>
                  <a:cubicBezTo>
                    <a:pt x="11006710" y="1509522"/>
                    <a:pt x="10872978" y="1643380"/>
                    <a:pt x="10707878" y="1643380"/>
                  </a:cubicBezTo>
                  <a:lnTo>
                    <a:pt x="298831" y="1643380"/>
                  </a:lnTo>
                  <a:cubicBezTo>
                    <a:pt x="133731" y="1643253"/>
                    <a:pt x="0" y="1509395"/>
                    <a:pt x="0" y="1344422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14183" y="2456183"/>
            <a:ext cx="866651" cy="866651"/>
            <a:chOff x="0" y="0"/>
            <a:chExt cx="1155535" cy="11555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45603" y="2687603"/>
            <a:ext cx="403803" cy="403803"/>
            <a:chOff x="0" y="0"/>
            <a:chExt cx="538404" cy="53840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60736" y="2286000"/>
            <a:ext cx="6766560" cy="1207008"/>
            <a:chOff x="0" y="0"/>
            <a:chExt cx="9022080" cy="16093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220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022080" cy="1676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Watch events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watched, watch duration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-1626360">
            <a:off x="7177402" y="4653915"/>
            <a:ext cx="2104387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9131303" y="3590039"/>
            <a:ext cx="8255003" cy="1232411"/>
            <a:chOff x="0" y="0"/>
            <a:chExt cx="11006671" cy="16432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710" cy="1643380"/>
            </a:xfrm>
            <a:custGeom>
              <a:avLst/>
              <a:gdLst/>
              <a:ahLst/>
              <a:cxnLst/>
              <a:rect r="r" b="b" t="t" l="l"/>
              <a:pathLst>
                <a:path h="1643380" w="11006710">
                  <a:moveTo>
                    <a:pt x="0" y="298831"/>
                  </a:moveTo>
                  <a:cubicBezTo>
                    <a:pt x="0" y="133731"/>
                    <a:pt x="133731" y="0"/>
                    <a:pt x="298831" y="0"/>
                  </a:cubicBezTo>
                  <a:lnTo>
                    <a:pt x="10707878" y="0"/>
                  </a:lnTo>
                  <a:cubicBezTo>
                    <a:pt x="10872851" y="0"/>
                    <a:pt x="11006710" y="133731"/>
                    <a:pt x="11006710" y="298831"/>
                  </a:cubicBezTo>
                  <a:lnTo>
                    <a:pt x="11006710" y="1344549"/>
                  </a:lnTo>
                  <a:cubicBezTo>
                    <a:pt x="11006710" y="1509522"/>
                    <a:pt x="10872978" y="1643380"/>
                    <a:pt x="10707878" y="1643380"/>
                  </a:cubicBezTo>
                  <a:lnTo>
                    <a:pt x="298831" y="1643380"/>
                  </a:lnTo>
                  <a:cubicBezTo>
                    <a:pt x="133731" y="1643253"/>
                    <a:pt x="0" y="1509395"/>
                    <a:pt x="0" y="1344422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314183" y="3772919"/>
            <a:ext cx="866651" cy="866651"/>
            <a:chOff x="0" y="0"/>
            <a:chExt cx="1155535" cy="11555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45603" y="4004339"/>
            <a:ext cx="403803" cy="403803"/>
            <a:chOff x="0" y="0"/>
            <a:chExt cx="538404" cy="53840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60736" y="3602736"/>
            <a:ext cx="6766560" cy="1207008"/>
            <a:chOff x="0" y="0"/>
            <a:chExt cx="9022080" cy="16093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220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9022080" cy="1676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events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queries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804900">
            <a:off x="7266699" y="5312283"/>
            <a:ext cx="1925793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9131303" y="4906775"/>
            <a:ext cx="8255003" cy="1232411"/>
            <a:chOff x="0" y="0"/>
            <a:chExt cx="11006671" cy="16432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06710" cy="1643380"/>
            </a:xfrm>
            <a:custGeom>
              <a:avLst/>
              <a:gdLst/>
              <a:ahLst/>
              <a:cxnLst/>
              <a:rect r="r" b="b" t="t" l="l"/>
              <a:pathLst>
                <a:path h="1643380" w="11006710">
                  <a:moveTo>
                    <a:pt x="0" y="298831"/>
                  </a:moveTo>
                  <a:cubicBezTo>
                    <a:pt x="0" y="133731"/>
                    <a:pt x="133731" y="0"/>
                    <a:pt x="298831" y="0"/>
                  </a:cubicBezTo>
                  <a:lnTo>
                    <a:pt x="10707878" y="0"/>
                  </a:lnTo>
                  <a:cubicBezTo>
                    <a:pt x="10872851" y="0"/>
                    <a:pt x="11006710" y="133731"/>
                    <a:pt x="11006710" y="298831"/>
                  </a:cubicBezTo>
                  <a:lnTo>
                    <a:pt x="11006710" y="1344549"/>
                  </a:lnTo>
                  <a:cubicBezTo>
                    <a:pt x="11006710" y="1509522"/>
                    <a:pt x="10872978" y="1643380"/>
                    <a:pt x="10707878" y="1643380"/>
                  </a:cubicBezTo>
                  <a:lnTo>
                    <a:pt x="298831" y="1643380"/>
                  </a:lnTo>
                  <a:cubicBezTo>
                    <a:pt x="133731" y="1643253"/>
                    <a:pt x="0" y="1509395"/>
                    <a:pt x="0" y="1344422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14183" y="5089655"/>
            <a:ext cx="866651" cy="866651"/>
            <a:chOff x="0" y="0"/>
            <a:chExt cx="1155535" cy="11555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545603" y="5321075"/>
            <a:ext cx="403803" cy="403803"/>
            <a:chOff x="0" y="0"/>
            <a:chExt cx="538404" cy="53840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460736" y="4919472"/>
            <a:ext cx="6766560" cy="1207008"/>
            <a:chOff x="0" y="0"/>
            <a:chExt cx="9022080" cy="1609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220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022080" cy="1676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Interaction events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Likes, comments, shares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2596320">
            <a:off x="6943220" y="5970651"/>
            <a:ext cx="257276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9131303" y="6223511"/>
            <a:ext cx="8255003" cy="1232411"/>
            <a:chOff x="0" y="0"/>
            <a:chExt cx="11006671" cy="16432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06710" cy="1643380"/>
            </a:xfrm>
            <a:custGeom>
              <a:avLst/>
              <a:gdLst/>
              <a:ahLst/>
              <a:cxnLst/>
              <a:rect r="r" b="b" t="t" l="l"/>
              <a:pathLst>
                <a:path h="1643380" w="11006710">
                  <a:moveTo>
                    <a:pt x="0" y="298831"/>
                  </a:moveTo>
                  <a:cubicBezTo>
                    <a:pt x="0" y="133731"/>
                    <a:pt x="133731" y="0"/>
                    <a:pt x="298831" y="0"/>
                  </a:cubicBezTo>
                  <a:lnTo>
                    <a:pt x="10707878" y="0"/>
                  </a:lnTo>
                  <a:cubicBezTo>
                    <a:pt x="10872851" y="0"/>
                    <a:pt x="11006710" y="133731"/>
                    <a:pt x="11006710" y="298831"/>
                  </a:cubicBezTo>
                  <a:lnTo>
                    <a:pt x="11006710" y="1344549"/>
                  </a:lnTo>
                  <a:cubicBezTo>
                    <a:pt x="11006710" y="1509522"/>
                    <a:pt x="10872978" y="1643380"/>
                    <a:pt x="10707878" y="1643380"/>
                  </a:cubicBezTo>
                  <a:lnTo>
                    <a:pt x="298831" y="1643380"/>
                  </a:lnTo>
                  <a:cubicBezTo>
                    <a:pt x="133731" y="1643253"/>
                    <a:pt x="0" y="1509395"/>
                    <a:pt x="0" y="1344422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314183" y="6406391"/>
            <a:ext cx="866651" cy="866651"/>
            <a:chOff x="0" y="0"/>
            <a:chExt cx="1155535" cy="11555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45603" y="6637811"/>
            <a:ext cx="403803" cy="403803"/>
            <a:chOff x="0" y="0"/>
            <a:chExt cx="538404" cy="538404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60736" y="6236208"/>
            <a:ext cx="6766560" cy="1207008"/>
            <a:chOff x="0" y="0"/>
            <a:chExt cx="9022080" cy="16093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220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022080" cy="1676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Subscription events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Subscribe / unsubscribe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3521640">
            <a:off x="6427032" y="6629019"/>
            <a:ext cx="3605146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9131303" y="7540247"/>
            <a:ext cx="8255003" cy="1232411"/>
            <a:chOff x="0" y="0"/>
            <a:chExt cx="11006671" cy="16432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06710" cy="1643380"/>
            </a:xfrm>
            <a:custGeom>
              <a:avLst/>
              <a:gdLst/>
              <a:ahLst/>
              <a:cxnLst/>
              <a:rect r="r" b="b" t="t" l="l"/>
              <a:pathLst>
                <a:path h="1643380" w="11006710">
                  <a:moveTo>
                    <a:pt x="0" y="298831"/>
                  </a:moveTo>
                  <a:cubicBezTo>
                    <a:pt x="0" y="133731"/>
                    <a:pt x="133731" y="0"/>
                    <a:pt x="298831" y="0"/>
                  </a:cubicBezTo>
                  <a:lnTo>
                    <a:pt x="10707878" y="0"/>
                  </a:lnTo>
                  <a:cubicBezTo>
                    <a:pt x="10872851" y="0"/>
                    <a:pt x="11006710" y="133731"/>
                    <a:pt x="11006710" y="298831"/>
                  </a:cubicBezTo>
                  <a:lnTo>
                    <a:pt x="11006710" y="1344549"/>
                  </a:lnTo>
                  <a:cubicBezTo>
                    <a:pt x="11006710" y="1509522"/>
                    <a:pt x="10872978" y="1643380"/>
                    <a:pt x="10707878" y="1643380"/>
                  </a:cubicBezTo>
                  <a:lnTo>
                    <a:pt x="298831" y="1643380"/>
                  </a:lnTo>
                  <a:cubicBezTo>
                    <a:pt x="133731" y="1643253"/>
                    <a:pt x="0" y="1509395"/>
                    <a:pt x="0" y="1344422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314183" y="7723127"/>
            <a:ext cx="866651" cy="866651"/>
            <a:chOff x="0" y="0"/>
            <a:chExt cx="1155535" cy="115553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545603" y="7954547"/>
            <a:ext cx="403803" cy="403803"/>
            <a:chOff x="0" y="0"/>
            <a:chExt cx="538404" cy="538404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9" b="-9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460736" y="7552944"/>
            <a:ext cx="6766560" cy="1207008"/>
            <a:chOff x="0" y="0"/>
            <a:chExt cx="9022080" cy="16093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220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9022080" cy="1676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Browsing events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Videos clicked or skipped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Overall Data Processing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3591563" cy="2585723"/>
            <a:chOff x="0" y="0"/>
            <a:chExt cx="4788751" cy="3447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236727" y="2876807"/>
            <a:ext cx="939803" cy="939803"/>
            <a:chOff x="0" y="0"/>
            <a:chExt cx="1253071" cy="1253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487168" y="3127248"/>
            <a:ext cx="438912" cy="438912"/>
            <a:chOff x="0" y="0"/>
            <a:chExt cx="585216" cy="58521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4023360"/>
            <a:ext cx="3200400" cy="914400"/>
            <a:chOff x="0" y="0"/>
            <a:chExt cx="4267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events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96680">
            <a:off x="4457700" y="38309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5199383" y="2547623"/>
            <a:ext cx="3591563" cy="2585723"/>
            <a:chOff x="0" y="0"/>
            <a:chExt cx="4788751" cy="3447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34407" y="2876807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84848" y="3127248"/>
            <a:ext cx="438912" cy="438912"/>
            <a:chOff x="0" y="0"/>
            <a:chExt cx="585216" cy="58521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94960" y="4023360"/>
            <a:ext cx="3200400" cy="914400"/>
            <a:chOff x="0" y="0"/>
            <a:chExt cx="4267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 / ingestion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96680">
            <a:off x="8755380" y="38309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9497063" y="2547623"/>
            <a:ext cx="3591563" cy="2585723"/>
            <a:chOff x="0" y="0"/>
            <a:chExt cx="4788751" cy="34476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832087" y="2876807"/>
            <a:ext cx="939803" cy="939803"/>
            <a:chOff x="0" y="0"/>
            <a:chExt cx="1253071" cy="1253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082528" y="3127248"/>
            <a:ext cx="438912" cy="438912"/>
            <a:chOff x="0" y="0"/>
            <a:chExt cx="585216" cy="58521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92640" y="4023360"/>
            <a:ext cx="3200400" cy="914400"/>
            <a:chOff x="0" y="0"/>
            <a:chExt cx="4267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storage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196680">
            <a:off x="13053060" y="38309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3794743" y="2547623"/>
            <a:ext cx="3591563" cy="2585723"/>
            <a:chOff x="0" y="0"/>
            <a:chExt cx="4788751" cy="34476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5129767" y="2876807"/>
            <a:ext cx="939803" cy="939803"/>
            <a:chOff x="0" y="0"/>
            <a:chExt cx="125307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380208" y="3127248"/>
            <a:ext cx="438912" cy="438912"/>
            <a:chOff x="0" y="0"/>
            <a:chExt cx="585216" cy="585216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990320" y="4023360"/>
            <a:ext cx="3200400" cy="914400"/>
            <a:chOff x="0" y="0"/>
            <a:chExt cx="42672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 &amp; analytics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94743" y="5748023"/>
            <a:ext cx="3591563" cy="2585723"/>
            <a:chOff x="0" y="0"/>
            <a:chExt cx="4788751" cy="34476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129767" y="6077207"/>
            <a:ext cx="939803" cy="939803"/>
            <a:chOff x="0" y="0"/>
            <a:chExt cx="1253071" cy="12530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380208" y="6327648"/>
            <a:ext cx="438912" cy="438912"/>
            <a:chOff x="0" y="0"/>
            <a:chExt cx="585216" cy="585216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990320" y="7223760"/>
            <a:ext cx="3200400" cy="914400"/>
            <a:chOff x="0" y="0"/>
            <a:chExt cx="426720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models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10603320">
            <a:off x="13053060" y="70313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9497063" y="5748023"/>
            <a:ext cx="3591563" cy="2585723"/>
            <a:chOff x="0" y="0"/>
            <a:chExt cx="4788751" cy="34476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832087" y="6077207"/>
            <a:ext cx="939803" cy="939803"/>
            <a:chOff x="0" y="0"/>
            <a:chExt cx="1253071" cy="1253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082528" y="6327648"/>
            <a:ext cx="438912" cy="438912"/>
            <a:chOff x="0" y="0"/>
            <a:chExt cx="585216" cy="585216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92640" y="7223760"/>
            <a:ext cx="3200400" cy="914400"/>
            <a:chOff x="0" y="0"/>
            <a:chExt cx="42672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Candidate videos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0603320">
            <a:off x="8755380" y="70313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5199383" y="5748023"/>
            <a:ext cx="3591563" cy="2585723"/>
            <a:chOff x="0" y="0"/>
            <a:chExt cx="4788751" cy="34476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534407" y="6077207"/>
            <a:ext cx="939803" cy="939803"/>
            <a:chOff x="0" y="0"/>
            <a:chExt cx="1253071" cy="12530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784848" y="6327648"/>
            <a:ext cx="438912" cy="438912"/>
            <a:chOff x="0" y="0"/>
            <a:chExt cx="585216" cy="585216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394960" y="7223760"/>
            <a:ext cx="3200400" cy="914400"/>
            <a:chOff x="0" y="0"/>
            <a:chExt cx="4267200" cy="1219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10603320">
            <a:off x="4457700" y="7031355"/>
            <a:ext cx="77724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4" id="74"/>
          <p:cNvGrpSpPr/>
          <p:nvPr/>
        </p:nvGrpSpPr>
        <p:grpSpPr>
          <a:xfrm rot="0">
            <a:off x="901703" y="5748023"/>
            <a:ext cx="3591563" cy="2585723"/>
            <a:chOff x="0" y="0"/>
            <a:chExt cx="4788751" cy="34476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88789" cy="3447669"/>
            </a:xfrm>
            <a:custGeom>
              <a:avLst/>
              <a:gdLst/>
              <a:ahLst/>
              <a:cxnLst/>
              <a:rect r="r" b="b" t="t" l="l"/>
              <a:pathLst>
                <a:path h="3447669" w="4788789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4493260" y="0"/>
                  </a:lnTo>
                  <a:cubicBezTo>
                    <a:pt x="4656455" y="0"/>
                    <a:pt x="4788789" y="132334"/>
                    <a:pt x="4788789" y="295529"/>
                  </a:cubicBezTo>
                  <a:lnTo>
                    <a:pt x="4788789" y="3152140"/>
                  </a:lnTo>
                  <a:cubicBezTo>
                    <a:pt x="4788789" y="3315335"/>
                    <a:pt x="4656455" y="3447669"/>
                    <a:pt x="4493260" y="3447669"/>
                  </a:cubicBezTo>
                  <a:lnTo>
                    <a:pt x="295529" y="3447669"/>
                  </a:lnTo>
                  <a:cubicBezTo>
                    <a:pt x="132334" y="3447669"/>
                    <a:pt x="0" y="3315335"/>
                    <a:pt x="0" y="3152140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2236727" y="6077207"/>
            <a:ext cx="939803" cy="939803"/>
            <a:chOff x="0" y="0"/>
            <a:chExt cx="1253071" cy="125307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2487168" y="6327648"/>
            <a:ext cx="438912" cy="438912"/>
            <a:chOff x="0" y="0"/>
            <a:chExt cx="585216" cy="585216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97280" y="7223760"/>
            <a:ext cx="3200400" cy="914400"/>
            <a:chOff x="0" y="0"/>
            <a:chExt cx="426720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4267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Personalized recommendations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rot="5177100">
            <a:off x="15247534" y="5431155"/>
            <a:ext cx="68597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Processing User 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3774443" cy="3865883"/>
            <a:chOff x="0" y="0"/>
            <a:chExt cx="5032591" cy="5154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326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4859909"/>
                  </a:lnTo>
                  <a:cubicBezTo>
                    <a:pt x="5032629" y="5022596"/>
                    <a:pt x="4900676" y="5154549"/>
                    <a:pt x="4737989" y="5154549"/>
                  </a:cubicBezTo>
                  <a:lnTo>
                    <a:pt x="294640" y="5154549"/>
                  </a:lnTo>
                  <a:cubicBezTo>
                    <a:pt x="131953" y="5154549"/>
                    <a:pt x="0" y="5022596"/>
                    <a:pt x="0" y="485990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76023" y="2730503"/>
            <a:ext cx="939803" cy="939803"/>
            <a:chOff x="0" y="0"/>
            <a:chExt cx="1253071" cy="1253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743200"/>
            <a:ext cx="914400" cy="914400"/>
            <a:chOff x="0" y="0"/>
            <a:chExt cx="1219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8720" y="3874770"/>
            <a:ext cx="320040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User performs an action such as watching or searching.</a:t>
            </a:r>
          </a:p>
        </p:txBody>
      </p:sp>
      <p:sp>
        <p:nvSpPr>
          <p:cNvPr name="AutoShape 13" id="13"/>
          <p:cNvSpPr/>
          <p:nvPr/>
        </p:nvSpPr>
        <p:spPr>
          <a:xfrm rot="283260">
            <a:off x="4640294" y="4379595"/>
            <a:ext cx="540058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5144519" y="2456183"/>
            <a:ext cx="3774443" cy="3865883"/>
            <a:chOff x="0" y="0"/>
            <a:chExt cx="5032591" cy="5154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326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4859909"/>
                  </a:lnTo>
                  <a:cubicBezTo>
                    <a:pt x="5032629" y="5022596"/>
                    <a:pt x="4900676" y="5154549"/>
                    <a:pt x="4737989" y="5154549"/>
                  </a:cubicBezTo>
                  <a:lnTo>
                    <a:pt x="294640" y="5154549"/>
                  </a:lnTo>
                  <a:cubicBezTo>
                    <a:pt x="131953" y="5154549"/>
                    <a:pt x="0" y="5022596"/>
                    <a:pt x="0" y="485990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418839" y="2730503"/>
            <a:ext cx="939803" cy="939803"/>
            <a:chOff x="0" y="0"/>
            <a:chExt cx="1253071" cy="12530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31536" y="2743200"/>
            <a:ext cx="914400" cy="914400"/>
            <a:chOff x="0" y="0"/>
            <a:chExt cx="12192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431536" y="3874770"/>
            <a:ext cx="320040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The activity becomes a signal representing user behavior.</a:t>
            </a:r>
          </a:p>
        </p:txBody>
      </p:sp>
      <p:sp>
        <p:nvSpPr>
          <p:cNvPr name="AutoShape 22" id="22"/>
          <p:cNvSpPr/>
          <p:nvPr/>
        </p:nvSpPr>
        <p:spPr>
          <a:xfrm rot="283260">
            <a:off x="8883110" y="4379595"/>
            <a:ext cx="540058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9387335" y="2456183"/>
            <a:ext cx="3774443" cy="3865883"/>
            <a:chOff x="0" y="0"/>
            <a:chExt cx="5032591" cy="5154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26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4859909"/>
                  </a:lnTo>
                  <a:cubicBezTo>
                    <a:pt x="5032629" y="5022596"/>
                    <a:pt x="4900676" y="5154549"/>
                    <a:pt x="4737989" y="5154549"/>
                  </a:cubicBezTo>
                  <a:lnTo>
                    <a:pt x="294640" y="5154549"/>
                  </a:lnTo>
                  <a:cubicBezTo>
                    <a:pt x="131953" y="5154549"/>
                    <a:pt x="0" y="5022596"/>
                    <a:pt x="0" y="485990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61655" y="2730503"/>
            <a:ext cx="939803" cy="939803"/>
            <a:chOff x="0" y="0"/>
            <a:chExt cx="125307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74352" y="2743200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74352" y="3874770"/>
            <a:ext cx="320040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Large-scale systems store and process these signals.</a:t>
            </a:r>
          </a:p>
        </p:txBody>
      </p:sp>
      <p:sp>
        <p:nvSpPr>
          <p:cNvPr name="AutoShape 31" id="31"/>
          <p:cNvSpPr/>
          <p:nvPr/>
        </p:nvSpPr>
        <p:spPr>
          <a:xfrm rot="283260">
            <a:off x="13125926" y="4379595"/>
            <a:ext cx="540058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3630151" y="2456183"/>
            <a:ext cx="3774443" cy="3865883"/>
            <a:chOff x="0" y="0"/>
            <a:chExt cx="5032591" cy="5154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326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4859909"/>
                  </a:lnTo>
                  <a:cubicBezTo>
                    <a:pt x="5032629" y="5022596"/>
                    <a:pt x="4900676" y="5154549"/>
                    <a:pt x="4737989" y="5154549"/>
                  </a:cubicBezTo>
                  <a:lnTo>
                    <a:pt x="294640" y="5154549"/>
                  </a:lnTo>
                  <a:cubicBezTo>
                    <a:pt x="131953" y="5154549"/>
                    <a:pt x="0" y="5022596"/>
                    <a:pt x="0" y="4859909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904471" y="2730503"/>
            <a:ext cx="939803" cy="939803"/>
            <a:chOff x="0" y="0"/>
            <a:chExt cx="125307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917168" y="2743200"/>
            <a:ext cx="914400" cy="914400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917168" y="3874770"/>
            <a:ext cx="320040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Processed information feeds analytical and recommendation systems.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01703" y="6845303"/>
            <a:ext cx="16484603" cy="2219963"/>
            <a:chOff x="0" y="0"/>
            <a:chExt cx="21979471" cy="29599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510" cy="2959989"/>
            </a:xfrm>
            <a:custGeom>
              <a:avLst/>
              <a:gdLst/>
              <a:ahLst/>
              <a:cxnLst/>
              <a:rect r="r" b="b" t="t" l="l"/>
              <a:pathLst>
                <a:path h="2959989" w="21979510">
                  <a:moveTo>
                    <a:pt x="0" y="296037"/>
                  </a:moveTo>
                  <a:cubicBezTo>
                    <a:pt x="0" y="132461"/>
                    <a:pt x="132461" y="0"/>
                    <a:pt x="296037" y="0"/>
                  </a:cubicBezTo>
                  <a:lnTo>
                    <a:pt x="21683472" y="0"/>
                  </a:lnTo>
                  <a:cubicBezTo>
                    <a:pt x="21846921" y="0"/>
                    <a:pt x="21979510" y="132461"/>
                    <a:pt x="21979510" y="296037"/>
                  </a:cubicBezTo>
                  <a:lnTo>
                    <a:pt x="21979510" y="2663952"/>
                  </a:lnTo>
                  <a:cubicBezTo>
                    <a:pt x="21979510" y="2827401"/>
                    <a:pt x="21847048" y="2959989"/>
                    <a:pt x="21683472" y="2959989"/>
                  </a:cubicBezTo>
                  <a:lnTo>
                    <a:pt x="296037" y="2959989"/>
                  </a:lnTo>
                  <a:cubicBezTo>
                    <a:pt x="132461" y="2959989"/>
                    <a:pt x="0" y="2827401"/>
                    <a:pt x="0" y="2663952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58903" y="7393943"/>
            <a:ext cx="1122683" cy="1122683"/>
            <a:chOff x="0" y="0"/>
            <a:chExt cx="1496911" cy="14969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656893" y="7691933"/>
            <a:ext cx="526694" cy="526694"/>
            <a:chOff x="0" y="0"/>
            <a:chExt cx="702259" cy="702259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926080" y="6858000"/>
            <a:ext cx="14081760" cy="2194560"/>
            <a:chOff x="0" y="0"/>
            <a:chExt cx="18775680" cy="2926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77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877568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Procella (Chattopadhyay et al., 2019)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Describes YouTube’s large-scale analytical workloads, including reporting, embedded statistics, monitoring and ad-hoc analysis.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Streaming Processing of User 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4780283" cy="2128523"/>
            <a:chOff x="0" y="0"/>
            <a:chExt cx="6373711" cy="28380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7374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373749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6077585" y="0"/>
                  </a:lnTo>
                  <a:cubicBezTo>
                    <a:pt x="6241161" y="0"/>
                    <a:pt x="6373749" y="132588"/>
                    <a:pt x="6373749" y="296164"/>
                  </a:cubicBezTo>
                  <a:lnTo>
                    <a:pt x="6373749" y="2541905"/>
                  </a:lnTo>
                  <a:cubicBezTo>
                    <a:pt x="6373749" y="2705481"/>
                    <a:pt x="6241161" y="2838069"/>
                    <a:pt x="6077585" y="2838069"/>
                  </a:cubicBezTo>
                  <a:lnTo>
                    <a:pt x="296164" y="2838069"/>
                  </a:lnTo>
                  <a:cubicBezTo>
                    <a:pt x="132588" y="2838069"/>
                    <a:pt x="0" y="2705481"/>
                    <a:pt x="0" y="2541905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76023" y="3004823"/>
            <a:ext cx="1031243" cy="1031243"/>
            <a:chOff x="0" y="0"/>
            <a:chExt cx="1374991" cy="1374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50238" y="3279038"/>
            <a:ext cx="482803" cy="482803"/>
            <a:chOff x="0" y="0"/>
            <a:chExt cx="643738" cy="6437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43763" cy="643763"/>
            </a:xfrm>
            <a:custGeom>
              <a:avLst/>
              <a:gdLst/>
              <a:ahLst/>
              <a:cxnLst/>
              <a:rect r="r" b="b" t="t" l="l"/>
              <a:pathLst>
                <a:path h="643763" w="643763">
                  <a:moveTo>
                    <a:pt x="0" y="0"/>
                  </a:moveTo>
                  <a:lnTo>
                    <a:pt x="643763" y="0"/>
                  </a:lnTo>
                  <a:lnTo>
                    <a:pt x="643763" y="643763"/>
                  </a:lnTo>
                  <a:lnTo>
                    <a:pt x="0" y="6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68880" y="2468880"/>
            <a:ext cx="3017520" cy="2103120"/>
            <a:chOff x="0" y="0"/>
            <a:chExt cx="4023360" cy="2804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423" t="0" r="-3942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023360" cy="2870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events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Watches, searches, likes arrive continuously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33800">
            <a:off x="5646620" y="3501771"/>
            <a:ext cx="114259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6753863" y="2456183"/>
            <a:ext cx="4780283" cy="2128523"/>
            <a:chOff x="0" y="0"/>
            <a:chExt cx="6373711" cy="28380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7374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373749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6077585" y="0"/>
                  </a:lnTo>
                  <a:cubicBezTo>
                    <a:pt x="6241161" y="0"/>
                    <a:pt x="6373749" y="132588"/>
                    <a:pt x="6373749" y="296164"/>
                  </a:cubicBezTo>
                  <a:lnTo>
                    <a:pt x="6373749" y="2541905"/>
                  </a:lnTo>
                  <a:cubicBezTo>
                    <a:pt x="6373749" y="2705481"/>
                    <a:pt x="6241161" y="2838069"/>
                    <a:pt x="6077585" y="2838069"/>
                  </a:cubicBezTo>
                  <a:lnTo>
                    <a:pt x="296164" y="2838069"/>
                  </a:lnTo>
                  <a:cubicBezTo>
                    <a:pt x="132588" y="2838069"/>
                    <a:pt x="0" y="2705481"/>
                    <a:pt x="0" y="2541905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028183" y="3004823"/>
            <a:ext cx="1031243" cy="1031243"/>
            <a:chOff x="0" y="0"/>
            <a:chExt cx="137499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302398" y="3279038"/>
            <a:ext cx="482803" cy="482803"/>
            <a:chOff x="0" y="0"/>
            <a:chExt cx="643738" cy="64373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43763" cy="643763"/>
            </a:xfrm>
            <a:custGeom>
              <a:avLst/>
              <a:gdLst/>
              <a:ahLst/>
              <a:cxnLst/>
              <a:rect r="r" b="b" t="t" l="l"/>
              <a:pathLst>
                <a:path h="643763" w="643763">
                  <a:moveTo>
                    <a:pt x="0" y="0"/>
                  </a:moveTo>
                  <a:lnTo>
                    <a:pt x="643763" y="0"/>
                  </a:lnTo>
                  <a:lnTo>
                    <a:pt x="643763" y="643763"/>
                  </a:lnTo>
                  <a:lnTo>
                    <a:pt x="0" y="6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321040" y="2468880"/>
            <a:ext cx="3017520" cy="2103120"/>
            <a:chOff x="0" y="0"/>
            <a:chExt cx="4023360" cy="2804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423" t="0" r="-3942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023360" cy="2870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 processing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1F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Events handled as they arrive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33800">
            <a:off x="11498780" y="3501771"/>
            <a:ext cx="1142590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2606023" y="2456183"/>
            <a:ext cx="4780283" cy="2128523"/>
            <a:chOff x="0" y="0"/>
            <a:chExt cx="6373711" cy="28380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7374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373749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6077585" y="0"/>
                  </a:lnTo>
                  <a:cubicBezTo>
                    <a:pt x="6241161" y="0"/>
                    <a:pt x="6373749" y="132588"/>
                    <a:pt x="6373749" y="296164"/>
                  </a:cubicBezTo>
                  <a:lnTo>
                    <a:pt x="6373749" y="2541905"/>
                  </a:lnTo>
                  <a:cubicBezTo>
                    <a:pt x="6373749" y="2705481"/>
                    <a:pt x="6241161" y="2838069"/>
                    <a:pt x="6077585" y="2838069"/>
                  </a:cubicBezTo>
                  <a:lnTo>
                    <a:pt x="296164" y="2838069"/>
                  </a:lnTo>
                  <a:cubicBezTo>
                    <a:pt x="132588" y="2838069"/>
                    <a:pt x="0" y="2705481"/>
                    <a:pt x="0" y="2541905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880343" y="3004823"/>
            <a:ext cx="1031243" cy="1031243"/>
            <a:chOff x="0" y="0"/>
            <a:chExt cx="1374991" cy="1374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154558" y="3279038"/>
            <a:ext cx="482803" cy="482803"/>
            <a:chOff x="0" y="0"/>
            <a:chExt cx="643738" cy="64373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643763" cy="643763"/>
            </a:xfrm>
            <a:custGeom>
              <a:avLst/>
              <a:gdLst/>
              <a:ahLst/>
              <a:cxnLst/>
              <a:rect r="r" b="b" t="t" l="l"/>
              <a:pathLst>
                <a:path h="643763" w="643763">
                  <a:moveTo>
                    <a:pt x="0" y="0"/>
                  </a:moveTo>
                  <a:lnTo>
                    <a:pt x="643763" y="0"/>
                  </a:lnTo>
                  <a:lnTo>
                    <a:pt x="643763" y="643763"/>
                  </a:lnTo>
                  <a:lnTo>
                    <a:pt x="0" y="6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173200" y="2468880"/>
            <a:ext cx="3017520" cy="2103120"/>
            <a:chOff x="0" y="0"/>
            <a:chExt cx="4023360" cy="2804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423" t="0" r="-3942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4023360" cy="2870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Fresh signals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 recommendations and analytics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86582" y="5053079"/>
            <a:ext cx="7980683" cy="3225803"/>
            <a:chOff x="0" y="0"/>
            <a:chExt cx="10640911" cy="4301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4082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640822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10345928" y="0"/>
                  </a:lnTo>
                  <a:cubicBezTo>
                    <a:pt x="10508869" y="0"/>
                    <a:pt x="10640822" y="132080"/>
                    <a:pt x="10640822" y="294894"/>
                  </a:cubicBezTo>
                  <a:lnTo>
                    <a:pt x="10640822" y="4006088"/>
                  </a:lnTo>
                  <a:cubicBezTo>
                    <a:pt x="10640822" y="4169029"/>
                    <a:pt x="10508742" y="4300982"/>
                    <a:pt x="10345928" y="4300982"/>
                  </a:cubicBezTo>
                  <a:lnTo>
                    <a:pt x="294894" y="4300982"/>
                  </a:lnTo>
                  <a:cubicBezTo>
                    <a:pt x="132080" y="4301109"/>
                    <a:pt x="0" y="4169029"/>
                    <a:pt x="0" y="4006088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5990815" y="5547741"/>
            <a:ext cx="7040880" cy="30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Streaming processing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Processes each event shortly after it happens.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Recent behavior is reflected quickly.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Distributed Processing Is Needed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541270"/>
            <a:ext cx="8961120" cy="536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B1F2A"/>
                </a:solidFill>
                <a:latin typeface="Roboto"/>
                <a:ea typeface="Roboto"/>
                <a:cs typeface="Roboto"/>
                <a:sym typeface="Roboto"/>
              </a:rPr>
              <a:t>YouTube operates at extremely large data volumes.</a:t>
            </a:r>
          </a:p>
          <a:p>
            <a:pPr algn="l">
              <a:lnSpc>
                <a:spcPts val="3840"/>
              </a:lnSpc>
            </a:pP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B1F2A"/>
                </a:solidFill>
                <a:latin typeface="Roboto"/>
                <a:ea typeface="Roboto"/>
                <a:cs typeface="Roboto"/>
                <a:sym typeface="Roboto"/>
              </a:rPr>
              <a:t>Processing everything on one machine is impractical.</a:t>
            </a:r>
          </a:p>
          <a:p>
            <a:pPr algn="l">
              <a:lnSpc>
                <a:spcPts val="3840"/>
              </a:lnSpc>
            </a:pP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B1F2A"/>
                </a:solidFill>
                <a:latin typeface="Roboto"/>
                <a:ea typeface="Roboto"/>
                <a:cs typeface="Roboto"/>
                <a:sym typeface="Roboto"/>
              </a:rPr>
              <a:t>Data and computation are handled across large-scale distributed infrastructure.</a:t>
            </a:r>
          </a:p>
          <a:p>
            <a:pPr algn="l">
              <a:lnSpc>
                <a:spcPts val="3840"/>
              </a:lnSpc>
            </a:pP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B1F2A"/>
                </a:solidFill>
                <a:latin typeface="Roboto"/>
                <a:ea typeface="Roboto"/>
                <a:cs typeface="Roboto"/>
                <a:sym typeface="Roboto"/>
              </a:rPr>
              <a:t>This lets analytics and machine learning operate at YouTube scale.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94343" y="3064757"/>
            <a:ext cx="6791963" cy="5285245"/>
            <a:chOff x="0" y="0"/>
            <a:chExt cx="9055951" cy="7046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5862" cy="7046921"/>
            </a:xfrm>
            <a:custGeom>
              <a:avLst/>
              <a:gdLst/>
              <a:ahLst/>
              <a:cxnLst/>
              <a:rect r="r" b="b" t="t" l="l"/>
              <a:pathLst>
                <a:path h="7046921" w="9055862">
                  <a:moveTo>
                    <a:pt x="0" y="241596"/>
                  </a:moveTo>
                  <a:cubicBezTo>
                    <a:pt x="0" y="108212"/>
                    <a:pt x="131572" y="0"/>
                    <a:pt x="293751" y="0"/>
                  </a:cubicBezTo>
                  <a:lnTo>
                    <a:pt x="8762111" y="0"/>
                  </a:lnTo>
                  <a:cubicBezTo>
                    <a:pt x="8924417" y="0"/>
                    <a:pt x="9055862" y="108212"/>
                    <a:pt x="9055862" y="241596"/>
                  </a:cubicBezTo>
                  <a:lnTo>
                    <a:pt x="9055862" y="6805325"/>
                  </a:lnTo>
                  <a:cubicBezTo>
                    <a:pt x="9055862" y="6938813"/>
                    <a:pt x="8924290" y="7046921"/>
                    <a:pt x="8762111" y="7046921"/>
                  </a:cubicBezTo>
                  <a:lnTo>
                    <a:pt x="293751" y="7046921"/>
                  </a:lnTo>
                  <a:cubicBezTo>
                    <a:pt x="131572" y="7047031"/>
                    <a:pt x="0" y="6938813"/>
                    <a:pt x="0" y="6805325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55680" y="3534654"/>
            <a:ext cx="1005840" cy="1005840"/>
            <a:chOff x="0" y="0"/>
            <a:chExt cx="1341120" cy="134112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55680" y="4805289"/>
            <a:ext cx="5852160" cy="293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Millions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B8C0CF"/>
                </a:solidFill>
                <a:latin typeface="Cambria"/>
                <a:ea typeface="Cambria"/>
                <a:cs typeface="Cambria"/>
                <a:sym typeface="Cambria"/>
              </a:rPr>
              <a:t>of users</a:t>
            </a:r>
          </a:p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Tens of billions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B8C0CF"/>
                </a:solidFill>
                <a:latin typeface="Cambria"/>
                <a:ea typeface="Cambria"/>
                <a:cs typeface="Cambria"/>
                <a:sym typeface="Cambria"/>
              </a:rPr>
              <a:t>of activity events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YouTube Recommendation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8437883" cy="756923"/>
            <a:chOff x="0" y="0"/>
            <a:chExt cx="11250511" cy="1009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5042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25042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11048619" y="0"/>
                  </a:lnTo>
                  <a:cubicBezTo>
                    <a:pt x="11160125" y="0"/>
                    <a:pt x="11250422" y="90424"/>
                    <a:pt x="11250422" y="201803"/>
                  </a:cubicBezTo>
                  <a:lnTo>
                    <a:pt x="11250422" y="807339"/>
                  </a:lnTo>
                  <a:cubicBezTo>
                    <a:pt x="11250422" y="918845"/>
                    <a:pt x="11159998" y="1009142"/>
                    <a:pt x="1104861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468880"/>
            <a:ext cx="8046720" cy="731520"/>
            <a:chOff x="0" y="0"/>
            <a:chExt cx="10728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728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History + Context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972200">
            <a:off x="4941580" y="3346323"/>
            <a:ext cx="35811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084583" y="3498599"/>
            <a:ext cx="8072123" cy="756923"/>
            <a:chOff x="0" y="0"/>
            <a:chExt cx="1076283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7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7627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10560939" y="0"/>
                  </a:lnTo>
                  <a:cubicBezTo>
                    <a:pt x="10672445" y="0"/>
                    <a:pt x="10762742" y="90424"/>
                    <a:pt x="10762742" y="201803"/>
                  </a:cubicBezTo>
                  <a:lnTo>
                    <a:pt x="10762742" y="807339"/>
                  </a:lnTo>
                  <a:cubicBezTo>
                    <a:pt x="10762742" y="918845"/>
                    <a:pt x="10672318" y="1009142"/>
                    <a:pt x="105609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A92A30"/>
            </a:solidFill>
            <a:ln w="25400" cap="sq">
              <a:solidFill>
                <a:srgbClr val="A92A3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3511296"/>
            <a:ext cx="7680960" cy="731520"/>
            <a:chOff x="0" y="0"/>
            <a:chExt cx="102412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2412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Candidate Generation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972200">
            <a:off x="4941580" y="4388739"/>
            <a:ext cx="35811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267463" y="4541015"/>
            <a:ext cx="7706363" cy="756923"/>
            <a:chOff x="0" y="0"/>
            <a:chExt cx="10275151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75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27506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10073259" y="0"/>
                  </a:lnTo>
                  <a:cubicBezTo>
                    <a:pt x="10184765" y="0"/>
                    <a:pt x="10275062" y="90424"/>
                    <a:pt x="10275062" y="201803"/>
                  </a:cubicBezTo>
                  <a:lnTo>
                    <a:pt x="10275062" y="807339"/>
                  </a:lnTo>
                  <a:cubicBezTo>
                    <a:pt x="10275062" y="918845"/>
                    <a:pt x="10184638" y="1009142"/>
                    <a:pt x="1007325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A92A30"/>
            </a:solidFill>
            <a:ln w="25400" cap="sq">
              <a:solidFill>
                <a:srgbClr val="A92A3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63040" y="4553712"/>
            <a:ext cx="7315200" cy="731520"/>
            <a:chOff x="0" y="0"/>
            <a:chExt cx="97536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Candidate Sources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4972200">
            <a:off x="4941580" y="5431155"/>
            <a:ext cx="35811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541783" y="5583431"/>
            <a:ext cx="7157723" cy="756923"/>
            <a:chOff x="0" y="0"/>
            <a:chExt cx="9543631" cy="1009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435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95435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9341739" y="0"/>
                  </a:lnTo>
                  <a:cubicBezTo>
                    <a:pt x="9453245" y="0"/>
                    <a:pt x="9543542" y="90424"/>
                    <a:pt x="9543542" y="201803"/>
                  </a:cubicBezTo>
                  <a:lnTo>
                    <a:pt x="9543542" y="807339"/>
                  </a:lnTo>
                  <a:cubicBezTo>
                    <a:pt x="9543542" y="918845"/>
                    <a:pt x="9453118" y="1009142"/>
                    <a:pt x="93417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A92A30"/>
            </a:solidFill>
            <a:ln w="25400" cap="sq">
              <a:solidFill>
                <a:srgbClr val="A92A3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37360" y="5596128"/>
            <a:ext cx="6766560" cy="731520"/>
            <a:chOff x="0" y="0"/>
            <a:chExt cx="90220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4972200">
            <a:off x="4941580" y="6473571"/>
            <a:ext cx="35811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724663" y="6625847"/>
            <a:ext cx="6791963" cy="756923"/>
            <a:chOff x="0" y="0"/>
            <a:chExt cx="9055951" cy="1009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558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905586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8854059" y="0"/>
                  </a:lnTo>
                  <a:cubicBezTo>
                    <a:pt x="8965565" y="0"/>
                    <a:pt x="9055862" y="90424"/>
                    <a:pt x="9055862" y="201803"/>
                  </a:cubicBezTo>
                  <a:lnTo>
                    <a:pt x="9055862" y="807339"/>
                  </a:lnTo>
                  <a:cubicBezTo>
                    <a:pt x="9055862" y="918845"/>
                    <a:pt x="8965438" y="1009142"/>
                    <a:pt x="885405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A92A30"/>
            </a:solidFill>
            <a:ln w="25400" cap="sq">
              <a:solidFill>
                <a:srgbClr val="A92A3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920240" y="6638544"/>
            <a:ext cx="6400800" cy="731520"/>
            <a:chOff x="0" y="0"/>
            <a:chExt cx="853440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534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Personalization / Policy / Quality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4972200">
            <a:off x="4941580" y="7515987"/>
            <a:ext cx="358111" cy="0"/>
          </a:xfrm>
          <a:prstGeom prst="line">
            <a:avLst/>
          </a:prstGeom>
          <a:ln cap="rnd" w="19050">
            <a:solidFill>
              <a:srgbClr val="3A4A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2090423" y="7668263"/>
            <a:ext cx="6060443" cy="756923"/>
            <a:chOff x="0" y="0"/>
            <a:chExt cx="8080591" cy="10092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80502" cy="1009142"/>
            </a:xfrm>
            <a:custGeom>
              <a:avLst/>
              <a:gdLst/>
              <a:ahLst/>
              <a:cxnLst/>
              <a:rect r="r" b="b" t="t" l="l"/>
              <a:pathLst>
                <a:path h="1009142" w="808050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7878699" y="0"/>
                  </a:lnTo>
                  <a:cubicBezTo>
                    <a:pt x="7990205" y="0"/>
                    <a:pt x="8080502" y="90424"/>
                    <a:pt x="8080502" y="201803"/>
                  </a:cubicBezTo>
                  <a:lnTo>
                    <a:pt x="8080502" y="807339"/>
                  </a:lnTo>
                  <a:cubicBezTo>
                    <a:pt x="8080502" y="918845"/>
                    <a:pt x="7990078" y="1009142"/>
                    <a:pt x="787869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286000" y="7680960"/>
            <a:ext cx="5669280" cy="731520"/>
            <a:chOff x="0" y="0"/>
            <a:chExt cx="755904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559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Recommended Videos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45703" y="2456183"/>
            <a:ext cx="7340603" cy="1945643"/>
            <a:chOff x="0" y="0"/>
            <a:chExt cx="9787471" cy="25941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87509" cy="2594229"/>
            </a:xfrm>
            <a:custGeom>
              <a:avLst/>
              <a:gdLst/>
              <a:ahLst/>
              <a:cxnLst/>
              <a:rect r="r" b="b" t="t" l="l"/>
              <a:pathLst>
                <a:path h="2594229" w="9787509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9490964" y="0"/>
                  </a:lnTo>
                  <a:cubicBezTo>
                    <a:pt x="9654667" y="0"/>
                    <a:pt x="9787509" y="132715"/>
                    <a:pt x="9787509" y="296545"/>
                  </a:cubicBezTo>
                  <a:lnTo>
                    <a:pt x="9787509" y="2297684"/>
                  </a:lnTo>
                  <a:cubicBezTo>
                    <a:pt x="9787509" y="2461387"/>
                    <a:pt x="9654794" y="2594229"/>
                    <a:pt x="9490964" y="2594229"/>
                  </a:cubicBezTo>
                  <a:lnTo>
                    <a:pt x="296545" y="2594229"/>
                  </a:lnTo>
                  <a:cubicBezTo>
                    <a:pt x="132715" y="2594229"/>
                    <a:pt x="0" y="2461387"/>
                    <a:pt x="0" y="2297684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424160" y="2585085"/>
            <a:ext cx="658368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823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Candidate generation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Uses the user’s activity and history to pull a smaller set of potentially relevant videos from multiple candidate sources.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045703" y="4650743"/>
            <a:ext cx="7340603" cy="1945643"/>
            <a:chOff x="0" y="0"/>
            <a:chExt cx="9787471" cy="25941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87509" cy="2594229"/>
            </a:xfrm>
            <a:custGeom>
              <a:avLst/>
              <a:gdLst/>
              <a:ahLst/>
              <a:cxnLst/>
              <a:rect r="r" b="b" t="t" l="l"/>
              <a:pathLst>
                <a:path h="2594229" w="9787509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9490964" y="0"/>
                  </a:lnTo>
                  <a:cubicBezTo>
                    <a:pt x="9654667" y="0"/>
                    <a:pt x="9787509" y="132715"/>
                    <a:pt x="9787509" y="296545"/>
                  </a:cubicBezTo>
                  <a:lnTo>
                    <a:pt x="9787509" y="2297684"/>
                  </a:lnTo>
                  <a:cubicBezTo>
                    <a:pt x="9787509" y="2461387"/>
                    <a:pt x="9654794" y="2594229"/>
                    <a:pt x="9490964" y="2594229"/>
                  </a:cubicBezTo>
                  <a:lnTo>
                    <a:pt x="296545" y="2594229"/>
                  </a:lnTo>
                  <a:cubicBezTo>
                    <a:pt x="132715" y="2594229"/>
                    <a:pt x="0" y="2461387"/>
                    <a:pt x="0" y="2297684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424160" y="4779645"/>
            <a:ext cx="658368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823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Ranking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Scores the candidate videos to produce an ordered list.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045703" y="6845303"/>
            <a:ext cx="7340603" cy="1945643"/>
            <a:chOff x="0" y="0"/>
            <a:chExt cx="9787471" cy="25941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87509" cy="2594229"/>
            </a:xfrm>
            <a:custGeom>
              <a:avLst/>
              <a:gdLst/>
              <a:ahLst/>
              <a:cxnLst/>
              <a:rect r="r" b="b" t="t" l="l"/>
              <a:pathLst>
                <a:path h="2594229" w="9787509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9490964" y="0"/>
                  </a:lnTo>
                  <a:cubicBezTo>
                    <a:pt x="9654667" y="0"/>
                    <a:pt x="9787509" y="132715"/>
                    <a:pt x="9787509" y="296545"/>
                  </a:cubicBezTo>
                  <a:lnTo>
                    <a:pt x="9787509" y="2297684"/>
                  </a:lnTo>
                  <a:cubicBezTo>
                    <a:pt x="9787509" y="2461387"/>
                    <a:pt x="9654794" y="2594229"/>
                    <a:pt x="9490964" y="2594229"/>
                  </a:cubicBezTo>
                  <a:lnTo>
                    <a:pt x="296545" y="2594229"/>
                  </a:lnTo>
                  <a:cubicBezTo>
                    <a:pt x="132715" y="2594229"/>
                    <a:pt x="0" y="2461387"/>
                    <a:pt x="0" y="2297684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0424160" y="6974205"/>
            <a:ext cx="658368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823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Final checks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1F2A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Personalization, policy and quality steps shape the recommended videos shown to the user.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B1F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Big Data Characteristics at YouTube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7980683" cy="2768603"/>
            <a:chOff x="0" y="0"/>
            <a:chExt cx="1064091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08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6408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345547" y="0"/>
                  </a:lnTo>
                  <a:cubicBezTo>
                    <a:pt x="10508615" y="0"/>
                    <a:pt x="10640822" y="132207"/>
                    <a:pt x="10640822" y="295275"/>
                  </a:cubicBezTo>
                  <a:lnTo>
                    <a:pt x="10640822" y="3396107"/>
                  </a:lnTo>
                  <a:cubicBezTo>
                    <a:pt x="10640822" y="3559175"/>
                    <a:pt x="10508615" y="3691382"/>
                    <a:pt x="103455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58903" y="3279143"/>
            <a:ext cx="1122683" cy="1122683"/>
            <a:chOff x="0" y="0"/>
            <a:chExt cx="1496911" cy="14969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6893" y="3577133"/>
            <a:ext cx="526694" cy="526694"/>
            <a:chOff x="0" y="0"/>
            <a:chExt cx="702259" cy="70225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34640" y="2468880"/>
            <a:ext cx="5852160" cy="2743200"/>
            <a:chOff x="0" y="0"/>
            <a:chExt cx="7802880" cy="365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2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80288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Volume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Huge amounts of video and user-event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05623" y="2456183"/>
            <a:ext cx="7980683" cy="2768603"/>
            <a:chOff x="0" y="0"/>
            <a:chExt cx="10640911" cy="36914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08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6408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345547" y="0"/>
                  </a:lnTo>
                  <a:cubicBezTo>
                    <a:pt x="10508615" y="0"/>
                    <a:pt x="10640822" y="132207"/>
                    <a:pt x="10640822" y="295275"/>
                  </a:cubicBezTo>
                  <a:lnTo>
                    <a:pt x="10640822" y="3396107"/>
                  </a:lnTo>
                  <a:cubicBezTo>
                    <a:pt x="10640822" y="3559175"/>
                    <a:pt x="10508615" y="3691382"/>
                    <a:pt x="103455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862823" y="3279143"/>
            <a:ext cx="1122683" cy="1122683"/>
            <a:chOff x="0" y="0"/>
            <a:chExt cx="1496911" cy="1496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160813" y="3577133"/>
            <a:ext cx="526694" cy="526694"/>
            <a:chOff x="0" y="0"/>
            <a:chExt cx="702259" cy="70225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8560" y="2468880"/>
            <a:ext cx="5852160" cy="2743200"/>
            <a:chOff x="0" y="0"/>
            <a:chExt cx="780288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02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80288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Velocity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generation of user activities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5565143"/>
            <a:ext cx="7980683" cy="2768603"/>
            <a:chOff x="0" y="0"/>
            <a:chExt cx="10640911" cy="36914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408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6408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345547" y="0"/>
                  </a:lnTo>
                  <a:cubicBezTo>
                    <a:pt x="10508615" y="0"/>
                    <a:pt x="10640822" y="132207"/>
                    <a:pt x="10640822" y="295275"/>
                  </a:cubicBezTo>
                  <a:lnTo>
                    <a:pt x="10640822" y="3396107"/>
                  </a:lnTo>
                  <a:cubicBezTo>
                    <a:pt x="10640822" y="3559175"/>
                    <a:pt x="10508615" y="3691382"/>
                    <a:pt x="103455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58903" y="6388103"/>
            <a:ext cx="1122683" cy="1122683"/>
            <a:chOff x="0" y="0"/>
            <a:chExt cx="1496911" cy="1496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3A4A6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656893" y="6686093"/>
            <a:ext cx="526694" cy="526694"/>
            <a:chOff x="0" y="0"/>
            <a:chExt cx="702259" cy="70225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834640" y="5577840"/>
            <a:ext cx="5852160" cy="2743200"/>
            <a:chOff x="0" y="0"/>
            <a:chExt cx="7802880" cy="3657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02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780288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Variety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Videos, searches, clicks, likes, comments, etc.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05623" y="5565143"/>
            <a:ext cx="7980683" cy="2768603"/>
            <a:chOff x="0" y="0"/>
            <a:chExt cx="10640911" cy="36914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408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6408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345547" y="0"/>
                  </a:lnTo>
                  <a:cubicBezTo>
                    <a:pt x="10508615" y="0"/>
                    <a:pt x="10640822" y="132207"/>
                    <a:pt x="10640822" y="295275"/>
                  </a:cubicBezTo>
                  <a:lnTo>
                    <a:pt x="10640822" y="3396107"/>
                  </a:lnTo>
                  <a:cubicBezTo>
                    <a:pt x="10640822" y="3559175"/>
                    <a:pt x="10508615" y="3691382"/>
                    <a:pt x="103455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1F3F7"/>
            </a:solidFill>
            <a:ln w="25400" cap="sq">
              <a:solidFill>
                <a:srgbClr val="F1F3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62823" y="6388103"/>
            <a:ext cx="1122683" cy="1122683"/>
            <a:chOff x="0" y="0"/>
            <a:chExt cx="1496911" cy="1496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3A4A63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160813" y="6686093"/>
            <a:ext cx="526694" cy="526694"/>
            <a:chOff x="0" y="0"/>
            <a:chExt cx="702259" cy="702259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7" b="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338560" y="5577840"/>
            <a:ext cx="5852160" cy="2743200"/>
            <a:chOff x="0" y="0"/>
            <a:chExt cx="7802880" cy="3657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02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780288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Veracity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65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Noisy or inconsistent user signals, such as accidental clicks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16484603" cy="1342139"/>
            <a:chOff x="0" y="0"/>
            <a:chExt cx="21979471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381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979381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681185" y="0"/>
                  </a:lnTo>
                  <a:cubicBezTo>
                    <a:pt x="21845904" y="0"/>
                    <a:pt x="21979381" y="133477"/>
                    <a:pt x="21979381" y="298196"/>
                  </a:cubicBezTo>
                  <a:lnTo>
                    <a:pt x="21979381" y="1491234"/>
                  </a:lnTo>
                  <a:cubicBezTo>
                    <a:pt x="21979381" y="1655953"/>
                    <a:pt x="21845904" y="1789430"/>
                    <a:pt x="21681185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76023" y="2620775"/>
            <a:ext cx="1012955" cy="1012955"/>
            <a:chOff x="0" y="0"/>
            <a:chExt cx="1350607" cy="1350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45485" y="2890237"/>
            <a:ext cx="474021" cy="474021"/>
            <a:chOff x="0" y="0"/>
            <a:chExt cx="632028" cy="63202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51760" y="2468880"/>
            <a:ext cx="14264640" cy="1316736"/>
            <a:chOff x="0" y="0"/>
            <a:chExt cx="19019520" cy="17556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01952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YouTube processes large volumes of user-generated content and behavioral events.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4065527"/>
            <a:ext cx="16484603" cy="1342139"/>
            <a:chOff x="0" y="0"/>
            <a:chExt cx="21979471" cy="1789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79381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979381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681185" y="0"/>
                  </a:lnTo>
                  <a:cubicBezTo>
                    <a:pt x="21845904" y="0"/>
                    <a:pt x="21979381" y="133477"/>
                    <a:pt x="21979381" y="298196"/>
                  </a:cubicBezTo>
                  <a:lnTo>
                    <a:pt x="21979381" y="1491234"/>
                  </a:lnTo>
                  <a:cubicBezTo>
                    <a:pt x="21979381" y="1655953"/>
                    <a:pt x="21845904" y="1789430"/>
                    <a:pt x="21681185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76023" y="4230119"/>
            <a:ext cx="1012955" cy="1012955"/>
            <a:chOff x="0" y="0"/>
            <a:chExt cx="1350607" cy="13506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45485" y="4499581"/>
            <a:ext cx="474021" cy="474021"/>
            <a:chOff x="0" y="0"/>
            <a:chExt cx="632028" cy="63202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51760" y="4078224"/>
            <a:ext cx="14264640" cy="1316736"/>
            <a:chOff x="0" y="0"/>
            <a:chExt cx="1901952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1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901952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Watching, searching and interacting provide important signals.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5674871"/>
            <a:ext cx="16484603" cy="1342139"/>
            <a:chOff x="0" y="0"/>
            <a:chExt cx="21979471" cy="17895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381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979381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681185" y="0"/>
                  </a:lnTo>
                  <a:cubicBezTo>
                    <a:pt x="21845904" y="0"/>
                    <a:pt x="21979381" y="133477"/>
                    <a:pt x="21979381" y="298196"/>
                  </a:cubicBezTo>
                  <a:lnTo>
                    <a:pt x="21979381" y="1491234"/>
                  </a:lnTo>
                  <a:cubicBezTo>
                    <a:pt x="21979381" y="1655953"/>
                    <a:pt x="21845904" y="1789430"/>
                    <a:pt x="21681185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76023" y="5839463"/>
            <a:ext cx="1012955" cy="1012955"/>
            <a:chOff x="0" y="0"/>
            <a:chExt cx="1350607" cy="13506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45485" y="6108925"/>
            <a:ext cx="474021" cy="474021"/>
            <a:chOff x="0" y="0"/>
            <a:chExt cx="632028" cy="63202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651760" y="5687568"/>
            <a:ext cx="14264640" cy="1316736"/>
            <a:chOff x="0" y="0"/>
            <a:chExt cx="1901952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901952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Distributed data infrastructure enables large-scale processing and analytics.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7284215"/>
            <a:ext cx="16484603" cy="1342139"/>
            <a:chOff x="0" y="0"/>
            <a:chExt cx="21979471" cy="17895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79381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979381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681185" y="0"/>
                  </a:lnTo>
                  <a:cubicBezTo>
                    <a:pt x="21845904" y="0"/>
                    <a:pt x="21979381" y="133477"/>
                    <a:pt x="21979381" y="298196"/>
                  </a:cubicBezTo>
                  <a:lnTo>
                    <a:pt x="21979381" y="1491234"/>
                  </a:lnTo>
                  <a:cubicBezTo>
                    <a:pt x="21979381" y="1655953"/>
                    <a:pt x="21845904" y="1789430"/>
                    <a:pt x="21681185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262C3B"/>
            </a:solidFill>
            <a:ln w="25400" cap="sq">
              <a:solidFill>
                <a:srgbClr val="262C3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76023" y="7448807"/>
            <a:ext cx="1012955" cy="1012955"/>
            <a:chOff x="0" y="0"/>
            <a:chExt cx="1350607" cy="13506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cubicBezTo>
                    <a:pt x="1048131" y="0"/>
                    <a:pt x="1350518" y="302387"/>
                    <a:pt x="1350518" y="675259"/>
                  </a:cubicBezTo>
                  <a:cubicBezTo>
                    <a:pt x="1350518" y="1048131"/>
                    <a:pt x="1048131" y="1350518"/>
                    <a:pt x="675259" y="1350518"/>
                  </a:cubicBezTo>
                  <a:cubicBezTo>
                    <a:pt x="302387" y="1350518"/>
                    <a:pt x="0" y="1048258"/>
                    <a:pt x="0" y="675259"/>
                  </a:cubicBezTo>
                  <a:close/>
                </a:path>
              </a:pathLst>
            </a:custGeom>
            <a:solidFill>
              <a:srgbClr val="D8232A"/>
            </a:solidFill>
            <a:ln w="25400" cap="sq">
              <a:solidFill>
                <a:srgbClr val="D8232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45485" y="7718269"/>
            <a:ext cx="474021" cy="474021"/>
            <a:chOff x="0" y="0"/>
            <a:chExt cx="632028" cy="63202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651760" y="7296912"/>
            <a:ext cx="14264640" cy="1316736"/>
            <a:chOff x="0" y="0"/>
            <a:chExt cx="19019520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1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9019520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Machine-learning candidate generation and ranking turn event data into personalized recommendations.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9781" y="-975690"/>
            <a:ext cx="17025794" cy="4694580"/>
            <a:chOff x="0" y="0"/>
            <a:chExt cx="22701059" cy="625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01059" cy="6259439"/>
            </a:xfrm>
            <a:custGeom>
              <a:avLst/>
              <a:gdLst/>
              <a:ahLst/>
              <a:cxnLst/>
              <a:rect r="r" b="b" t="t" l="l"/>
              <a:pathLst>
                <a:path h="6259439" w="22701059">
                  <a:moveTo>
                    <a:pt x="0" y="0"/>
                  </a:moveTo>
                  <a:lnTo>
                    <a:pt x="22701059" y="0"/>
                  </a:lnTo>
                  <a:lnTo>
                    <a:pt x="22701059" y="6259439"/>
                  </a:lnTo>
                  <a:lnTo>
                    <a:pt x="0" y="6259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680" r="3327" b="180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701059" cy="6268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u="sng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925" y="2011680"/>
            <a:ext cx="14264640" cy="1463040"/>
            <a:chOff x="0" y="0"/>
            <a:chExt cx="1901952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0195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https://vldb.org/pvldb/vol12/p2022-chattopadhyay.pdf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5925" y="3327500"/>
            <a:ext cx="14264640" cy="1463040"/>
            <a:chOff x="0" y="0"/>
            <a:chExt cx="1901952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19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0195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https://par.nsf.gov/servlets/purl/10322913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5925" y="4665434"/>
            <a:ext cx="14264640" cy="1463040"/>
            <a:chOff x="0" y="0"/>
            <a:chExt cx="1901952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0195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https://www.researchgate.net/publication/392472384_BIG_DATA-DRIVEN_SUPPORT_SYSTEM_FOR_YOUTUBE_CHANNEL_IMPROVEMENT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85925" y="6492466"/>
            <a:ext cx="14264640" cy="1463040"/>
            <a:chOff x="0" y="0"/>
            <a:chExt cx="1901952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19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0195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https://www.researchgate.net/publication/392472384_BIG_DATA-DRIVEN_SUPPORT_SYSTEM_FOR_YOUTUBE_CHANNEL_IMPROVEMENT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5925" y="8080264"/>
            <a:ext cx="14264640" cy="1463040"/>
            <a:chOff x="0" y="0"/>
            <a:chExt cx="1901952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19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0195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https://dl.acm.org/doi/pdf/10.1145/2959100.2959190?utm_campaign=Weekly+dose+of+Machine+Learning&amp;utm_medium=email&amp;utm_source=Revue+newsletter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DAHWsHYJ2Qk</dc:identifier>
  <dcterms:modified xsi:type="dcterms:W3CDTF">2011-08-01T06:04:30Z</dcterms:modified>
  <cp:revision>1</cp:revision>
  <dc:title>BD PPT</dc:title>
</cp:coreProperties>
</file>