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0" d="100"/>
          <a:sy n="160" d="100"/>
        </p:scale>
        <p:origin x="20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96096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0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6.png"/><Relationship Id="rId9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7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42773" y="1417320"/>
            <a:ext cx="5120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YouTube Processes Billions of User Data Along with User Events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394960" y="914400"/>
            <a:ext cx="3291840" cy="3291840"/>
          </a:xfrm>
          <a:prstGeom prst="ellipse">
            <a:avLst/>
          </a:prstGeom>
          <a:solidFill>
            <a:srgbClr val="262C3B"/>
          </a:solidFill>
          <a:ln w="12700">
            <a:solidFill>
              <a:srgbClr val="262C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80760" y="1600200"/>
            <a:ext cx="1920240" cy="1920240"/>
          </a:xfrm>
          <a:prstGeom prst="ellipse">
            <a:avLst/>
          </a:prstGeom>
          <a:solidFill>
            <a:srgbClr val="D8232A"/>
          </a:solidFill>
          <a:ln w="12700">
            <a:solidFill>
              <a:srgbClr val="D8232A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2240280"/>
            <a:ext cx="59436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0" y="1051560"/>
            <a:ext cx="594360" cy="594360"/>
          </a:xfrm>
          <a:prstGeom prst="ellipse">
            <a:avLst/>
          </a:prstGeom>
          <a:solidFill>
            <a:srgbClr val="3A4A63"/>
          </a:solidFill>
          <a:ln w="12700">
            <a:solidFill>
              <a:srgbClr val="3A4A63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0934" y="1206094"/>
            <a:ext cx="285293" cy="285293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7909560" y="1463040"/>
            <a:ext cx="594360" cy="594360"/>
          </a:xfrm>
          <a:prstGeom prst="ellipse">
            <a:avLst/>
          </a:prstGeom>
          <a:solidFill>
            <a:srgbClr val="3A4A63"/>
          </a:solidFill>
          <a:ln w="12700">
            <a:solidFill>
              <a:srgbClr val="3A4A63"/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4094" y="1617574"/>
            <a:ext cx="285293" cy="285293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7589520" y="3520440"/>
            <a:ext cx="594360" cy="594360"/>
          </a:xfrm>
          <a:prstGeom prst="ellipse">
            <a:avLst/>
          </a:prstGeom>
          <a:solidFill>
            <a:srgbClr val="3A4A63"/>
          </a:solidFill>
          <a:ln w="12700">
            <a:solidFill>
              <a:srgbClr val="3A4A63"/>
            </a:solidFill>
            <a:prstDash val="solid"/>
          </a:ln>
        </p:spPr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44054" y="3674974"/>
            <a:ext cx="285293" cy="285293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5669280" y="3429000"/>
            <a:ext cx="594360" cy="594360"/>
          </a:xfrm>
          <a:prstGeom prst="ellipse">
            <a:avLst/>
          </a:prstGeom>
          <a:solidFill>
            <a:srgbClr val="3A4A63"/>
          </a:solidFill>
          <a:ln w="12700">
            <a:solidFill>
              <a:srgbClr val="3A4A63"/>
            </a:solidFill>
            <a:prstDash val="solid"/>
          </a:ln>
        </p:spPr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23814" y="3583534"/>
            <a:ext cx="285293" cy="28529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YouTube as a Big Data Platform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8229600" cy="640080"/>
          </a:xfrm>
          <a:prstGeom prst="roundRect">
            <a:avLst>
              <a:gd name="adj" fmla="val 17143"/>
            </a:avLst>
          </a:prstGeom>
          <a:solidFill>
            <a:srgbClr val="F1F3F7"/>
          </a:solidFill>
          <a:ln w="12700">
            <a:solidFill>
              <a:srgbClr val="F1F3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1307592"/>
            <a:ext cx="493776" cy="493776"/>
          </a:xfrm>
          <a:prstGeom prst="ellipse">
            <a:avLst/>
          </a:prstGeom>
          <a:solidFill>
            <a:srgbClr val="D8232A"/>
          </a:solidFill>
          <a:ln w="12700">
            <a:solidFill>
              <a:srgbClr val="D8232A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310" y="1435974"/>
            <a:ext cx="237012" cy="2370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80160" y="123444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generates enormous data through views, searches, likes, comments, subscriptions and watch history.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57200" y="2011680"/>
            <a:ext cx="8229600" cy="640080"/>
          </a:xfrm>
          <a:prstGeom prst="roundRect">
            <a:avLst>
              <a:gd name="adj" fmla="val 17143"/>
            </a:avLst>
          </a:prstGeom>
          <a:solidFill>
            <a:srgbClr val="F1F3F7"/>
          </a:solidFill>
          <a:ln w="12700">
            <a:solidFill>
              <a:srgbClr val="F1F3F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66928" y="2084832"/>
            <a:ext cx="493776" cy="493776"/>
          </a:xfrm>
          <a:prstGeom prst="ellipse">
            <a:avLst/>
          </a:prstGeom>
          <a:solidFill>
            <a:srgbClr val="D8232A"/>
          </a:solidFill>
          <a:ln w="12700">
            <a:solidFill>
              <a:srgbClr val="D8232A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310" y="2213214"/>
            <a:ext cx="237012" cy="23701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80160" y="201168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activity provides signals about users’ interests and preferences.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457200" y="2788920"/>
            <a:ext cx="8229600" cy="640080"/>
          </a:xfrm>
          <a:prstGeom prst="roundRect">
            <a:avLst>
              <a:gd name="adj" fmla="val 17143"/>
            </a:avLst>
          </a:prstGeom>
          <a:solidFill>
            <a:srgbClr val="F1F3F7"/>
          </a:solidFill>
          <a:ln w="12700">
            <a:solidFill>
              <a:srgbClr val="F1F3F7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566928" y="2862072"/>
            <a:ext cx="493776" cy="493776"/>
          </a:xfrm>
          <a:prstGeom prst="ellipse">
            <a:avLst/>
          </a:prstGeom>
          <a:solidFill>
            <a:srgbClr val="D8232A"/>
          </a:solidFill>
          <a:ln w="12700">
            <a:solidFill>
              <a:srgbClr val="D8232A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310" y="2990454"/>
            <a:ext cx="237012" cy="23701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80160" y="27889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data at this scale requires highly scalable data-processing and machine-learning systems.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457200" y="3566160"/>
            <a:ext cx="8229600" cy="640080"/>
          </a:xfrm>
          <a:prstGeom prst="roundRect">
            <a:avLst>
              <a:gd name="adj" fmla="val 17143"/>
            </a:avLst>
          </a:prstGeom>
          <a:solidFill>
            <a:srgbClr val="F1F3F7"/>
          </a:solidFill>
          <a:ln w="12700">
            <a:solidFill>
              <a:srgbClr val="F1F3F7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566928" y="3639312"/>
            <a:ext cx="493776" cy="493776"/>
          </a:xfrm>
          <a:prstGeom prst="ellipse">
            <a:avLst/>
          </a:prstGeom>
          <a:solidFill>
            <a:srgbClr val="D8232A"/>
          </a:solidFill>
          <a:ln w="12700">
            <a:solidFill>
              <a:srgbClr val="D8232A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5310" y="3767694"/>
            <a:ext cx="237012" cy="23701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280160" y="356616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on YouTube’s recommender shows how user activity is used to personalize content.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 of User Data and User Events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2103120"/>
            <a:ext cx="914400" cy="914400"/>
          </a:xfrm>
          <a:prstGeom prst="ellipse">
            <a:avLst/>
          </a:prstGeom>
          <a:solidFill>
            <a:srgbClr val="3A4A63"/>
          </a:solidFill>
          <a:ln w="12700">
            <a:solidFill>
              <a:srgbClr val="3A4A63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2340864"/>
            <a:ext cx="438912" cy="43891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3108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2103120" y="1965960"/>
            <a:ext cx="1554480" cy="1188720"/>
          </a:xfrm>
          <a:prstGeom prst="roundRect">
            <a:avLst>
              <a:gd name="adj" fmla="val 9231"/>
            </a:avLst>
          </a:prstGeom>
          <a:solidFill>
            <a:srgbClr val="D8232A"/>
          </a:solidFill>
          <a:ln w="12700">
            <a:solidFill>
              <a:srgbClr val="D8232A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6040" y="2103120"/>
            <a:ext cx="548640" cy="5486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103120" y="26974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1371600" y="2560320"/>
            <a:ext cx="731520" cy="0"/>
          </a:xfrm>
          <a:prstGeom prst="line">
            <a:avLst/>
          </a:prstGeom>
          <a:noFill/>
          <a:ln w="22225">
            <a:solidFill>
              <a:srgbClr val="3A4A63"/>
            </a:solidFill>
            <a:prstDash val="solid"/>
            <a:tailEnd type="triangle"/>
          </a:ln>
        </p:spPr>
      </p:sp>
      <p:sp>
        <p:nvSpPr>
          <p:cNvPr id="10" name="Shape 6"/>
          <p:cNvSpPr/>
          <p:nvPr/>
        </p:nvSpPr>
        <p:spPr>
          <a:xfrm flipV="1">
            <a:off x="3657600" y="1444752"/>
            <a:ext cx="914400" cy="1115568"/>
          </a:xfrm>
          <a:prstGeom prst="line">
            <a:avLst/>
          </a:prstGeom>
          <a:noFill/>
          <a:ln w="22225">
            <a:solidFill>
              <a:srgbClr val="3A4A63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572000" y="1143000"/>
            <a:ext cx="4114800" cy="603504"/>
          </a:xfrm>
          <a:prstGeom prst="roundRect">
            <a:avLst>
              <a:gd name="adj" fmla="val 18182"/>
            </a:avLst>
          </a:prstGeom>
          <a:solidFill>
            <a:srgbClr val="F1F3F7"/>
          </a:solidFill>
          <a:ln w="12700">
            <a:solidFill>
              <a:srgbClr val="F1F3F7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663440" y="1234440"/>
            <a:ext cx="420624" cy="420624"/>
          </a:xfrm>
          <a:prstGeom prst="ellipse">
            <a:avLst/>
          </a:prstGeom>
          <a:solidFill>
            <a:srgbClr val="3A4A63"/>
          </a:solidFill>
          <a:ln w="12700">
            <a:solidFill>
              <a:srgbClr val="3A4A63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2802" y="1343802"/>
            <a:ext cx="201900" cy="2019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230368" y="1143000"/>
            <a:ext cx="3383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events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5B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watched, watch duration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 flipV="1">
            <a:off x="3657600" y="2103120"/>
            <a:ext cx="914400" cy="457200"/>
          </a:xfrm>
          <a:prstGeom prst="line">
            <a:avLst/>
          </a:prstGeom>
          <a:noFill/>
          <a:ln w="22225">
            <a:solidFill>
              <a:srgbClr val="3A4A63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4572000" y="1801368"/>
            <a:ext cx="4114800" cy="603504"/>
          </a:xfrm>
          <a:prstGeom prst="roundRect">
            <a:avLst>
              <a:gd name="adj" fmla="val 18182"/>
            </a:avLst>
          </a:prstGeom>
          <a:solidFill>
            <a:srgbClr val="F1F3F7"/>
          </a:solidFill>
          <a:ln w="12700">
            <a:solidFill>
              <a:srgbClr val="F1F3F7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4663440" y="1892808"/>
            <a:ext cx="420624" cy="420624"/>
          </a:xfrm>
          <a:prstGeom prst="ellipse">
            <a:avLst/>
          </a:prstGeom>
          <a:solidFill>
            <a:srgbClr val="3A4A63"/>
          </a:solidFill>
          <a:ln w="12700">
            <a:solidFill>
              <a:srgbClr val="3A4A63"/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72802" y="2002170"/>
            <a:ext cx="201900" cy="20190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5230368" y="1801368"/>
            <a:ext cx="3383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events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5B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queries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3657600" y="2560320"/>
            <a:ext cx="914400" cy="201168"/>
          </a:xfrm>
          <a:prstGeom prst="line">
            <a:avLst/>
          </a:prstGeom>
          <a:noFill/>
          <a:ln w="22225">
            <a:solidFill>
              <a:srgbClr val="3A4A63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4572000" y="2459736"/>
            <a:ext cx="4114800" cy="603504"/>
          </a:xfrm>
          <a:prstGeom prst="roundRect">
            <a:avLst>
              <a:gd name="adj" fmla="val 18182"/>
            </a:avLst>
          </a:prstGeom>
          <a:solidFill>
            <a:srgbClr val="F1F3F7"/>
          </a:solidFill>
          <a:ln w="12700">
            <a:solidFill>
              <a:srgbClr val="F1F3F7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4663440" y="2551176"/>
            <a:ext cx="420624" cy="420624"/>
          </a:xfrm>
          <a:prstGeom prst="ellipse">
            <a:avLst/>
          </a:prstGeom>
          <a:solidFill>
            <a:srgbClr val="3A4A63"/>
          </a:solidFill>
          <a:ln w="12700">
            <a:solidFill>
              <a:srgbClr val="3A4A63"/>
            </a:solidFill>
            <a:prstDash val="solid"/>
          </a:ln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72802" y="2660538"/>
            <a:ext cx="201900" cy="20190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5230368" y="2459736"/>
            <a:ext cx="3383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 events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5B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Likes, comments, shares</a:t>
            </a:r>
            <a:endParaRPr lang="en-US" sz="1400" dirty="0"/>
          </a:p>
        </p:txBody>
      </p:sp>
      <p:sp>
        <p:nvSpPr>
          <p:cNvPr id="25" name="Shape 18"/>
          <p:cNvSpPr/>
          <p:nvPr/>
        </p:nvSpPr>
        <p:spPr>
          <a:xfrm>
            <a:off x="3657600" y="2560320"/>
            <a:ext cx="914400" cy="859536"/>
          </a:xfrm>
          <a:prstGeom prst="line">
            <a:avLst/>
          </a:prstGeom>
          <a:noFill/>
          <a:ln w="22225">
            <a:solidFill>
              <a:srgbClr val="3A4A63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4572000" y="3118104"/>
            <a:ext cx="4114800" cy="603504"/>
          </a:xfrm>
          <a:prstGeom prst="roundRect">
            <a:avLst>
              <a:gd name="adj" fmla="val 18182"/>
            </a:avLst>
          </a:prstGeom>
          <a:solidFill>
            <a:srgbClr val="F1F3F7"/>
          </a:solidFill>
          <a:ln w="12700">
            <a:solidFill>
              <a:srgbClr val="F1F3F7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4663440" y="3209544"/>
            <a:ext cx="420624" cy="420624"/>
          </a:xfrm>
          <a:prstGeom prst="ellipse">
            <a:avLst/>
          </a:prstGeom>
          <a:solidFill>
            <a:srgbClr val="3A4A63"/>
          </a:solidFill>
          <a:ln w="12700">
            <a:solidFill>
              <a:srgbClr val="3A4A63"/>
            </a:solidFill>
            <a:prstDash val="solid"/>
          </a:ln>
        </p:spPr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72802" y="3318906"/>
            <a:ext cx="201900" cy="201900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5230368" y="3118104"/>
            <a:ext cx="3383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events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5B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 / unsubscribe</a:t>
            </a:r>
            <a:endParaRPr lang="en-US" sz="1400" dirty="0"/>
          </a:p>
        </p:txBody>
      </p:sp>
      <p:sp>
        <p:nvSpPr>
          <p:cNvPr id="30" name="Shape 22"/>
          <p:cNvSpPr/>
          <p:nvPr/>
        </p:nvSpPr>
        <p:spPr>
          <a:xfrm>
            <a:off x="3657600" y="2560320"/>
            <a:ext cx="914400" cy="1517904"/>
          </a:xfrm>
          <a:prstGeom prst="line">
            <a:avLst/>
          </a:prstGeom>
          <a:noFill/>
          <a:ln w="22225">
            <a:solidFill>
              <a:srgbClr val="3A4A63"/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4572000" y="3776472"/>
            <a:ext cx="4114800" cy="603504"/>
          </a:xfrm>
          <a:prstGeom prst="roundRect">
            <a:avLst>
              <a:gd name="adj" fmla="val 18182"/>
            </a:avLst>
          </a:prstGeom>
          <a:solidFill>
            <a:srgbClr val="F1F3F7"/>
          </a:solidFill>
          <a:ln w="12700">
            <a:solidFill>
              <a:srgbClr val="F1F3F7"/>
            </a:solidFill>
            <a:prstDash val="solid"/>
          </a:ln>
        </p:spPr>
      </p:sp>
      <p:sp>
        <p:nvSpPr>
          <p:cNvPr id="32" name="Shape 24"/>
          <p:cNvSpPr/>
          <p:nvPr/>
        </p:nvSpPr>
        <p:spPr>
          <a:xfrm>
            <a:off x="4663440" y="3867912"/>
            <a:ext cx="420624" cy="420624"/>
          </a:xfrm>
          <a:prstGeom prst="ellipse">
            <a:avLst/>
          </a:prstGeom>
          <a:solidFill>
            <a:srgbClr val="3A4A63"/>
          </a:solidFill>
          <a:ln w="12700">
            <a:solidFill>
              <a:srgbClr val="3A4A63"/>
            </a:solidFill>
            <a:prstDash val="solid"/>
          </a:ln>
        </p:spPr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72802" y="3977274"/>
            <a:ext cx="201900" cy="201900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5230368" y="3776472"/>
            <a:ext cx="3383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Browsing events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5B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Videos clicked or skipped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Overall Data Processing Flow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783080" cy="1280160"/>
          </a:xfrm>
          <a:prstGeom prst="roundRect">
            <a:avLst>
              <a:gd name="adj" fmla="val 8571"/>
            </a:avLst>
          </a:prstGeom>
          <a:solidFill>
            <a:srgbClr val="F1F3F7"/>
          </a:solidFill>
          <a:ln w="12700">
            <a:solidFill>
              <a:srgbClr val="F1F3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4712" y="1444752"/>
            <a:ext cx="457200" cy="457200"/>
          </a:xfrm>
          <a:prstGeom prst="ellipse">
            <a:avLst/>
          </a:prstGeom>
          <a:solidFill>
            <a:srgbClr val="3A4A63"/>
          </a:solidFill>
          <a:ln w="12700">
            <a:solidFill>
              <a:srgbClr val="3A4A63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3584" y="1563624"/>
            <a:ext cx="219456" cy="2194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0116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events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2240280" y="1920240"/>
            <a:ext cx="365760" cy="0"/>
          </a:xfrm>
          <a:prstGeom prst="line">
            <a:avLst/>
          </a:prstGeom>
          <a:noFill/>
          <a:ln w="22225">
            <a:solidFill>
              <a:srgbClr val="3A4A63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2606040" y="1280160"/>
            <a:ext cx="1783080" cy="1280160"/>
          </a:xfrm>
          <a:prstGeom prst="roundRect">
            <a:avLst>
              <a:gd name="adj" fmla="val 8571"/>
            </a:avLst>
          </a:prstGeom>
          <a:solidFill>
            <a:srgbClr val="F1F3F7"/>
          </a:solidFill>
          <a:ln w="12700">
            <a:solidFill>
              <a:srgbClr val="F1F3F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273552" y="1444752"/>
            <a:ext cx="457200" cy="457200"/>
          </a:xfrm>
          <a:prstGeom prst="ellipse">
            <a:avLst/>
          </a:prstGeom>
          <a:solidFill>
            <a:srgbClr val="3A4A63"/>
          </a:solidFill>
          <a:ln w="12700">
            <a:solidFill>
              <a:srgbClr val="3A4A63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2424" y="1563624"/>
            <a:ext cx="219456" cy="21945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697480" y="20116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/ ingestion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389120" y="1920240"/>
            <a:ext cx="365760" cy="0"/>
          </a:xfrm>
          <a:prstGeom prst="line">
            <a:avLst/>
          </a:prstGeom>
          <a:noFill/>
          <a:ln w="22225">
            <a:solidFill>
              <a:srgbClr val="3A4A63"/>
            </a:solidFill>
            <a:prstDash val="solid"/>
            <a:tailEnd type="triangle"/>
          </a:ln>
        </p:spPr>
      </p:sp>
      <p:sp>
        <p:nvSpPr>
          <p:cNvPr id="13" name="Shape 9"/>
          <p:cNvSpPr/>
          <p:nvPr/>
        </p:nvSpPr>
        <p:spPr>
          <a:xfrm>
            <a:off x="4754880" y="1280160"/>
            <a:ext cx="1783080" cy="1280160"/>
          </a:xfrm>
          <a:prstGeom prst="roundRect">
            <a:avLst>
              <a:gd name="adj" fmla="val 8571"/>
            </a:avLst>
          </a:prstGeom>
          <a:solidFill>
            <a:srgbClr val="F1F3F7"/>
          </a:solidFill>
          <a:ln w="12700">
            <a:solidFill>
              <a:srgbClr val="F1F3F7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422392" y="1444752"/>
            <a:ext cx="457200" cy="457200"/>
          </a:xfrm>
          <a:prstGeom prst="ellipse">
            <a:avLst/>
          </a:prstGeom>
          <a:solidFill>
            <a:srgbClr val="3A4A63"/>
          </a:solidFill>
          <a:ln w="12700">
            <a:solidFill>
              <a:srgbClr val="3A4A63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41264" y="1563624"/>
            <a:ext cx="219456" cy="21945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846320" y="20116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storage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6537960" y="1920240"/>
            <a:ext cx="365760" cy="0"/>
          </a:xfrm>
          <a:prstGeom prst="line">
            <a:avLst/>
          </a:prstGeom>
          <a:noFill/>
          <a:ln w="22225">
            <a:solidFill>
              <a:srgbClr val="3A4A63"/>
            </a:solidFill>
            <a:prstDash val="solid"/>
            <a:tailEnd type="triangle"/>
          </a:ln>
        </p:spPr>
      </p:sp>
      <p:sp>
        <p:nvSpPr>
          <p:cNvPr id="18" name="Shape 13"/>
          <p:cNvSpPr/>
          <p:nvPr/>
        </p:nvSpPr>
        <p:spPr>
          <a:xfrm>
            <a:off x="6903720" y="1280160"/>
            <a:ext cx="1783080" cy="1280160"/>
          </a:xfrm>
          <a:prstGeom prst="roundRect">
            <a:avLst>
              <a:gd name="adj" fmla="val 8571"/>
            </a:avLst>
          </a:prstGeom>
          <a:solidFill>
            <a:srgbClr val="F1F3F7"/>
          </a:solidFill>
          <a:ln w="12700">
            <a:solidFill>
              <a:srgbClr val="F1F3F7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571232" y="1444752"/>
            <a:ext cx="457200" cy="457200"/>
          </a:xfrm>
          <a:prstGeom prst="ellipse">
            <a:avLst/>
          </a:prstGeom>
          <a:solidFill>
            <a:srgbClr val="3A4A63"/>
          </a:solidFill>
          <a:ln w="12700">
            <a:solidFill>
              <a:srgbClr val="3A4A63"/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90104" y="1563624"/>
            <a:ext cx="219456" cy="21945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995160" y="20116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&amp; analytics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6903720" y="2880360"/>
            <a:ext cx="1783080" cy="1280160"/>
          </a:xfrm>
          <a:prstGeom prst="roundRect">
            <a:avLst>
              <a:gd name="adj" fmla="val 8571"/>
            </a:avLst>
          </a:prstGeom>
          <a:solidFill>
            <a:srgbClr val="F1F3F7"/>
          </a:solidFill>
          <a:ln w="12700">
            <a:solidFill>
              <a:srgbClr val="F1F3F7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7571232" y="3044952"/>
            <a:ext cx="457200" cy="457200"/>
          </a:xfrm>
          <a:prstGeom prst="ellipse">
            <a:avLst/>
          </a:prstGeom>
          <a:solidFill>
            <a:srgbClr val="3A4A63"/>
          </a:solidFill>
          <a:ln w="12700">
            <a:solidFill>
              <a:srgbClr val="3A4A63"/>
            </a:solidFill>
            <a:prstDash val="solid"/>
          </a:ln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90104" y="3163824"/>
            <a:ext cx="219456" cy="219456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6995160" y="36118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models</a:t>
            </a:r>
            <a:endParaRPr lang="en-US" sz="1300" dirty="0"/>
          </a:p>
        </p:txBody>
      </p:sp>
      <p:sp>
        <p:nvSpPr>
          <p:cNvPr id="26" name="Shape 19"/>
          <p:cNvSpPr/>
          <p:nvPr/>
        </p:nvSpPr>
        <p:spPr>
          <a:xfrm flipH="1">
            <a:off x="6537960" y="3520440"/>
            <a:ext cx="365760" cy="0"/>
          </a:xfrm>
          <a:prstGeom prst="line">
            <a:avLst/>
          </a:prstGeom>
          <a:noFill/>
          <a:ln w="22225">
            <a:solidFill>
              <a:srgbClr val="3A4A63"/>
            </a:solidFill>
            <a:prstDash val="solid"/>
            <a:tailEnd type="triangle"/>
          </a:ln>
        </p:spPr>
      </p:sp>
      <p:sp>
        <p:nvSpPr>
          <p:cNvPr id="27" name="Shape 20"/>
          <p:cNvSpPr/>
          <p:nvPr/>
        </p:nvSpPr>
        <p:spPr>
          <a:xfrm>
            <a:off x="4754880" y="2880360"/>
            <a:ext cx="1783080" cy="1280160"/>
          </a:xfrm>
          <a:prstGeom prst="roundRect">
            <a:avLst>
              <a:gd name="adj" fmla="val 8571"/>
            </a:avLst>
          </a:prstGeom>
          <a:solidFill>
            <a:srgbClr val="F1F3F7"/>
          </a:solidFill>
          <a:ln w="12700">
            <a:solidFill>
              <a:srgbClr val="F1F3F7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5422392" y="3044952"/>
            <a:ext cx="457200" cy="457200"/>
          </a:xfrm>
          <a:prstGeom prst="ellipse">
            <a:avLst/>
          </a:prstGeom>
          <a:solidFill>
            <a:srgbClr val="3A4A63"/>
          </a:solidFill>
          <a:ln w="12700">
            <a:solidFill>
              <a:srgbClr val="3A4A63"/>
            </a:solidFill>
            <a:prstDash val="solid"/>
          </a:ln>
        </p:spPr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41264" y="3163824"/>
            <a:ext cx="219456" cy="219456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4846320" y="36118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videos</a:t>
            </a:r>
            <a:endParaRPr lang="en-US" sz="1300" dirty="0"/>
          </a:p>
        </p:txBody>
      </p:sp>
      <p:sp>
        <p:nvSpPr>
          <p:cNvPr id="31" name="Shape 23"/>
          <p:cNvSpPr/>
          <p:nvPr/>
        </p:nvSpPr>
        <p:spPr>
          <a:xfrm flipH="1">
            <a:off x="4389120" y="3520440"/>
            <a:ext cx="365760" cy="0"/>
          </a:xfrm>
          <a:prstGeom prst="line">
            <a:avLst/>
          </a:prstGeom>
          <a:noFill/>
          <a:ln w="22225">
            <a:solidFill>
              <a:srgbClr val="3A4A63"/>
            </a:solidFill>
            <a:prstDash val="solid"/>
            <a:tailEnd type="triangle"/>
          </a:ln>
        </p:spPr>
      </p:sp>
      <p:sp>
        <p:nvSpPr>
          <p:cNvPr id="32" name="Shape 24"/>
          <p:cNvSpPr/>
          <p:nvPr/>
        </p:nvSpPr>
        <p:spPr>
          <a:xfrm>
            <a:off x="2606040" y="2880360"/>
            <a:ext cx="1783080" cy="1280160"/>
          </a:xfrm>
          <a:prstGeom prst="roundRect">
            <a:avLst>
              <a:gd name="adj" fmla="val 8571"/>
            </a:avLst>
          </a:prstGeom>
          <a:solidFill>
            <a:srgbClr val="F1F3F7"/>
          </a:solidFill>
          <a:ln w="12700">
            <a:solidFill>
              <a:srgbClr val="F1F3F7"/>
            </a:solidFill>
            <a:prstDash val="solid"/>
          </a:ln>
        </p:spPr>
      </p:sp>
      <p:sp>
        <p:nvSpPr>
          <p:cNvPr id="33" name="Shape 25"/>
          <p:cNvSpPr/>
          <p:nvPr/>
        </p:nvSpPr>
        <p:spPr>
          <a:xfrm>
            <a:off x="3273552" y="3044952"/>
            <a:ext cx="457200" cy="457200"/>
          </a:xfrm>
          <a:prstGeom prst="ellipse">
            <a:avLst/>
          </a:prstGeom>
          <a:solidFill>
            <a:srgbClr val="3A4A63"/>
          </a:solidFill>
          <a:ln w="12700">
            <a:solidFill>
              <a:srgbClr val="3A4A63"/>
            </a:solidFill>
            <a:prstDash val="solid"/>
          </a:ln>
        </p:spPr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92424" y="3163824"/>
            <a:ext cx="219456" cy="219456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2697480" y="36118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</a:t>
            </a:r>
            <a:endParaRPr lang="en-US" sz="1300" dirty="0"/>
          </a:p>
        </p:txBody>
      </p:sp>
      <p:sp>
        <p:nvSpPr>
          <p:cNvPr id="36" name="Shape 27"/>
          <p:cNvSpPr/>
          <p:nvPr/>
        </p:nvSpPr>
        <p:spPr>
          <a:xfrm flipH="1">
            <a:off x="2240280" y="3520440"/>
            <a:ext cx="365760" cy="0"/>
          </a:xfrm>
          <a:prstGeom prst="line">
            <a:avLst/>
          </a:prstGeom>
          <a:noFill/>
          <a:ln w="22225">
            <a:solidFill>
              <a:srgbClr val="3A4A63"/>
            </a:solidFill>
            <a:prstDash val="solid"/>
            <a:tailEnd type="triangle"/>
          </a:ln>
        </p:spPr>
      </p:sp>
      <p:sp>
        <p:nvSpPr>
          <p:cNvPr id="37" name="Shape 28"/>
          <p:cNvSpPr/>
          <p:nvPr/>
        </p:nvSpPr>
        <p:spPr>
          <a:xfrm>
            <a:off x="457200" y="2880360"/>
            <a:ext cx="1783080" cy="1280160"/>
          </a:xfrm>
          <a:prstGeom prst="roundRect">
            <a:avLst>
              <a:gd name="adj" fmla="val 8571"/>
            </a:avLst>
          </a:prstGeom>
          <a:solidFill>
            <a:srgbClr val="D8232A"/>
          </a:solidFill>
          <a:ln w="12700">
            <a:solidFill>
              <a:srgbClr val="D8232A"/>
            </a:solidFill>
            <a:prstDash val="solid"/>
          </a:ln>
        </p:spPr>
      </p:sp>
      <p:sp>
        <p:nvSpPr>
          <p:cNvPr id="38" name="Shape 29"/>
          <p:cNvSpPr/>
          <p:nvPr/>
        </p:nvSpPr>
        <p:spPr>
          <a:xfrm>
            <a:off x="1124712" y="3044952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43584" y="3163824"/>
            <a:ext cx="219456" cy="219456"/>
          </a:xfrm>
          <a:prstGeom prst="rect">
            <a:avLst/>
          </a:prstGeom>
        </p:spPr>
      </p:pic>
      <p:sp>
        <p:nvSpPr>
          <p:cNvPr id="40" name="Text 30"/>
          <p:cNvSpPr txBox="1"/>
          <p:nvPr/>
        </p:nvSpPr>
        <p:spPr>
          <a:xfrm>
            <a:off x="548640" y="36118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recommendations</a:t>
            </a:r>
            <a:endParaRPr lang="en-US" sz="1300" dirty="0"/>
          </a:p>
        </p:txBody>
      </p:sp>
      <p:sp>
        <p:nvSpPr>
          <p:cNvPr id="41" name="Shape 31"/>
          <p:cNvSpPr/>
          <p:nvPr/>
        </p:nvSpPr>
        <p:spPr>
          <a:xfrm>
            <a:off x="7795260" y="2560320"/>
            <a:ext cx="0" cy="320040"/>
          </a:xfrm>
          <a:prstGeom prst="line">
            <a:avLst/>
          </a:prstGeom>
          <a:noFill/>
          <a:ln w="22225">
            <a:solidFill>
              <a:srgbClr val="3A4A63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Processing User Events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874520" cy="1920240"/>
          </a:xfrm>
          <a:prstGeom prst="roundRect">
            <a:avLst>
              <a:gd name="adj" fmla="val 5854"/>
            </a:avLst>
          </a:prstGeom>
          <a:solidFill>
            <a:srgbClr val="F1F3F7"/>
          </a:solidFill>
          <a:ln w="12700">
            <a:solidFill>
              <a:srgbClr val="F1F3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371600"/>
            <a:ext cx="457200" cy="457200"/>
          </a:xfrm>
          <a:prstGeom prst="ellipse">
            <a:avLst/>
          </a:prstGeom>
          <a:solidFill>
            <a:srgbClr val="D8232A"/>
          </a:solidFill>
          <a:ln w="12700">
            <a:solidFill>
              <a:srgbClr val="D8232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96596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performs an action such as watching or searching.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331720" y="2194560"/>
            <a:ext cx="246888" cy="0"/>
          </a:xfrm>
          <a:prstGeom prst="line">
            <a:avLst/>
          </a:prstGeom>
          <a:noFill/>
          <a:ln w="22225">
            <a:solidFill>
              <a:srgbClr val="3A4A63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578608" y="1234440"/>
            <a:ext cx="1874520" cy="1920240"/>
          </a:xfrm>
          <a:prstGeom prst="roundRect">
            <a:avLst>
              <a:gd name="adj" fmla="val 5854"/>
            </a:avLst>
          </a:prstGeom>
          <a:solidFill>
            <a:srgbClr val="F1F3F7"/>
          </a:solidFill>
          <a:ln w="12700">
            <a:solidFill>
              <a:srgbClr val="F1F3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15768" y="1371600"/>
            <a:ext cx="457200" cy="457200"/>
          </a:xfrm>
          <a:prstGeom prst="ellipse">
            <a:avLst/>
          </a:prstGeom>
          <a:solidFill>
            <a:srgbClr val="D8232A"/>
          </a:solidFill>
          <a:ln w="12700">
            <a:solidFill>
              <a:srgbClr val="D8232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715768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715768" y="196596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activity becomes a signal representing user behavior.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453128" y="2194560"/>
            <a:ext cx="246888" cy="0"/>
          </a:xfrm>
          <a:prstGeom prst="line">
            <a:avLst/>
          </a:prstGeom>
          <a:noFill/>
          <a:ln w="22225">
            <a:solidFill>
              <a:srgbClr val="3A4A63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700016" y="1234440"/>
            <a:ext cx="1874520" cy="1920240"/>
          </a:xfrm>
          <a:prstGeom prst="roundRect">
            <a:avLst>
              <a:gd name="adj" fmla="val 5854"/>
            </a:avLst>
          </a:prstGeom>
          <a:solidFill>
            <a:srgbClr val="F1F3F7"/>
          </a:solidFill>
          <a:ln w="12700">
            <a:solidFill>
              <a:srgbClr val="F1F3F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37176" y="1371600"/>
            <a:ext cx="457200" cy="457200"/>
          </a:xfrm>
          <a:prstGeom prst="ellipse">
            <a:avLst/>
          </a:prstGeom>
          <a:solidFill>
            <a:srgbClr val="D8232A"/>
          </a:solidFill>
          <a:ln w="12700">
            <a:solidFill>
              <a:srgbClr val="D8232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37176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837176" y="196596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Large-scale systems store and process these signals.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574536" y="2194560"/>
            <a:ext cx="246888" cy="0"/>
          </a:xfrm>
          <a:prstGeom prst="line">
            <a:avLst/>
          </a:prstGeom>
          <a:noFill/>
          <a:ln w="22225">
            <a:solidFill>
              <a:srgbClr val="3A4A63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821424" y="1234440"/>
            <a:ext cx="1874520" cy="1920240"/>
          </a:xfrm>
          <a:prstGeom prst="roundRect">
            <a:avLst>
              <a:gd name="adj" fmla="val 5854"/>
            </a:avLst>
          </a:prstGeom>
          <a:solidFill>
            <a:srgbClr val="F1F3F7"/>
          </a:solidFill>
          <a:ln w="12700">
            <a:solidFill>
              <a:srgbClr val="F1F3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958584" y="1371600"/>
            <a:ext cx="457200" cy="457200"/>
          </a:xfrm>
          <a:prstGeom prst="ellipse">
            <a:avLst/>
          </a:prstGeom>
          <a:solidFill>
            <a:srgbClr val="D8232A"/>
          </a:solidFill>
          <a:ln w="12700">
            <a:solidFill>
              <a:srgbClr val="D8232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958584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958584" y="196596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 information feeds analytical and recommendation systems.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3429000"/>
            <a:ext cx="8229600" cy="1097280"/>
          </a:xfrm>
          <a:prstGeom prst="roundRect">
            <a:avLst>
              <a:gd name="adj" fmla="val 10000"/>
            </a:avLst>
          </a:prstGeom>
          <a:solidFill>
            <a:srgbClr val="262C3B"/>
          </a:solidFill>
          <a:ln w="12700">
            <a:solidFill>
              <a:srgbClr val="262C3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5800" y="3703320"/>
            <a:ext cx="548640" cy="548640"/>
          </a:xfrm>
          <a:prstGeom prst="ellipse">
            <a:avLst/>
          </a:prstGeom>
          <a:solidFill>
            <a:srgbClr val="D8232A"/>
          </a:solidFill>
          <a:ln w="12700">
            <a:solidFill>
              <a:srgbClr val="D8232A"/>
            </a:solidFill>
            <a:prstDash val="solid"/>
          </a:ln>
        </p:spPr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446" y="3845966"/>
            <a:ext cx="263347" cy="263347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1463040" y="3429000"/>
            <a:ext cx="7040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Procella (Chattopadhyay et al., 2019)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Describes YouTube’s large-scale analytical workloads, including reporting, embedded statistics, monitoring and ad-hoc analysis.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Streaming Processing of User Events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2377440" cy="1051560"/>
          </a:xfrm>
          <a:prstGeom prst="roundRect">
            <a:avLst>
              <a:gd name="adj" fmla="val 10435"/>
            </a:avLst>
          </a:prstGeom>
          <a:solidFill>
            <a:srgbClr val="F1F3F7"/>
          </a:solidFill>
          <a:ln w="12700">
            <a:solidFill>
              <a:srgbClr val="F1F3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508760"/>
            <a:ext cx="502920" cy="502920"/>
          </a:xfrm>
          <a:prstGeom prst="ellipse">
            <a:avLst/>
          </a:prstGeom>
          <a:solidFill>
            <a:srgbClr val="3A4A63"/>
          </a:solidFill>
          <a:ln w="12700">
            <a:solidFill>
              <a:srgbClr val="3A4A63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119" y="1639519"/>
            <a:ext cx="241402" cy="24140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1234440"/>
            <a:ext cx="1508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events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Watches, searches, likes arrive continuously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2834640" y="1755648"/>
            <a:ext cx="548640" cy="0"/>
          </a:xfrm>
          <a:prstGeom prst="line">
            <a:avLst/>
          </a:prstGeom>
          <a:noFill/>
          <a:ln w="22225">
            <a:solidFill>
              <a:srgbClr val="3A4A63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3383280" y="1234440"/>
            <a:ext cx="2377440" cy="1051560"/>
          </a:xfrm>
          <a:prstGeom prst="roundRect">
            <a:avLst>
              <a:gd name="adj" fmla="val 10435"/>
            </a:avLst>
          </a:prstGeom>
          <a:solidFill>
            <a:srgbClr val="F1F3F7"/>
          </a:solidFill>
          <a:ln w="12700">
            <a:solidFill>
              <a:srgbClr val="F1F3F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520440" y="1508760"/>
            <a:ext cx="502920" cy="502920"/>
          </a:xfrm>
          <a:prstGeom prst="ellipse">
            <a:avLst/>
          </a:prstGeom>
          <a:solidFill>
            <a:srgbClr val="3A4A63"/>
          </a:solidFill>
          <a:ln w="12700">
            <a:solidFill>
              <a:srgbClr val="3A4A63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1199" y="1639519"/>
            <a:ext cx="241402" cy="24140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160520" y="1234440"/>
            <a:ext cx="1508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processing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handled as they arrive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760720" y="1755648"/>
            <a:ext cx="548640" cy="0"/>
          </a:xfrm>
          <a:prstGeom prst="line">
            <a:avLst/>
          </a:prstGeom>
          <a:noFill/>
          <a:ln w="22225">
            <a:solidFill>
              <a:srgbClr val="3A4A63"/>
            </a:solidFill>
            <a:prstDash val="solid"/>
            <a:tailEnd type="triangle"/>
          </a:ln>
        </p:spPr>
      </p:sp>
      <p:sp>
        <p:nvSpPr>
          <p:cNvPr id="13" name="Shape 9"/>
          <p:cNvSpPr/>
          <p:nvPr/>
        </p:nvSpPr>
        <p:spPr>
          <a:xfrm>
            <a:off x="6309360" y="1234440"/>
            <a:ext cx="2377440" cy="1051560"/>
          </a:xfrm>
          <a:prstGeom prst="roundRect">
            <a:avLst>
              <a:gd name="adj" fmla="val 10435"/>
            </a:avLst>
          </a:prstGeom>
          <a:solidFill>
            <a:srgbClr val="D8232A"/>
          </a:solidFill>
          <a:ln w="12700">
            <a:solidFill>
              <a:srgbClr val="D8232A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446520" y="150876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7279" y="1639519"/>
            <a:ext cx="241402" cy="24140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086600" y="1234440"/>
            <a:ext cx="1508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signals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recommendations and analytics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2599639" y="2532888"/>
            <a:ext cx="3977640" cy="1600200"/>
          </a:xfrm>
          <a:prstGeom prst="roundRect">
            <a:avLst>
              <a:gd name="adj" fmla="val 6857"/>
            </a:avLst>
          </a:prstGeom>
          <a:solidFill>
            <a:srgbClr val="262C3B"/>
          </a:solidFill>
          <a:ln w="12700">
            <a:solidFill>
              <a:srgbClr val="262C3B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2995408" y="2807208"/>
            <a:ext cx="3520440" cy="1477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processing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each event shortly after it happens.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behavior is reflected quickly.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Distributed Processing Is Needed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44805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operates at extremely large data volumes.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everything on one machine is impractical.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and computation are handled across large-scale distributed infrastructure.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lets analytics and machine learning operate at YouTube scale.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303520" y="1234440"/>
            <a:ext cx="3383280" cy="3200400"/>
          </a:xfrm>
          <a:prstGeom prst="roundRect">
            <a:avLst>
              <a:gd name="adj" fmla="val 3429"/>
            </a:avLst>
          </a:prstGeom>
          <a:solidFill>
            <a:srgbClr val="262C3B"/>
          </a:solidFill>
          <a:ln w="12700">
            <a:solidFill>
              <a:srgbClr val="262C3B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1463040"/>
            <a:ext cx="502920" cy="5029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577840" y="210312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Millions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B8C0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 users</a:t>
            </a:r>
            <a:endParaRPr lang="en-US" sz="1400" dirty="0"/>
          </a:p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Tens of billions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B8C0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 activity events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577840" y="36576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B8C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data was generated through MapReduce computations (Davidson et al., 2010).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YouTube Recommendation System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4206240" cy="365760"/>
          </a:xfrm>
          <a:prstGeom prst="roundRect">
            <a:avLst>
              <a:gd name="adj" fmla="val 20000"/>
            </a:avLst>
          </a:prstGeom>
          <a:solidFill>
            <a:srgbClr val="3A4A63"/>
          </a:solidFill>
          <a:ln w="12700">
            <a:solidFill>
              <a:srgbClr val="3A4A6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344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History + Context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560320" y="1600200"/>
            <a:ext cx="0" cy="155448"/>
          </a:xfrm>
          <a:prstGeom prst="line">
            <a:avLst/>
          </a:prstGeom>
          <a:noFill/>
          <a:ln w="22225">
            <a:solidFill>
              <a:srgbClr val="3A4A63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548640" y="1755648"/>
            <a:ext cx="4023360" cy="365760"/>
          </a:xfrm>
          <a:prstGeom prst="roundRect">
            <a:avLst>
              <a:gd name="adj" fmla="val 20000"/>
            </a:avLst>
          </a:prstGeom>
          <a:solidFill>
            <a:srgbClr val="A92A30"/>
          </a:solidFill>
          <a:ln w="12700">
            <a:solidFill>
              <a:srgbClr val="A92A3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75564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Generation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560320" y="2121408"/>
            <a:ext cx="0" cy="155448"/>
          </a:xfrm>
          <a:prstGeom prst="line">
            <a:avLst/>
          </a:prstGeom>
          <a:noFill/>
          <a:ln w="22225">
            <a:solidFill>
              <a:srgbClr val="3A4A63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40080" y="2276856"/>
            <a:ext cx="3840480" cy="365760"/>
          </a:xfrm>
          <a:prstGeom prst="roundRect">
            <a:avLst>
              <a:gd name="adj" fmla="val 20000"/>
            </a:avLst>
          </a:prstGeom>
          <a:solidFill>
            <a:srgbClr val="A92A30"/>
          </a:solidFill>
          <a:ln w="12700">
            <a:solidFill>
              <a:srgbClr val="A92A3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227685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Candidate Sources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560320" y="2642616"/>
            <a:ext cx="0" cy="155448"/>
          </a:xfrm>
          <a:prstGeom prst="line">
            <a:avLst/>
          </a:prstGeom>
          <a:noFill/>
          <a:ln w="22225">
            <a:solidFill>
              <a:srgbClr val="3A4A63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77240" y="2798064"/>
            <a:ext cx="3566160" cy="365760"/>
          </a:xfrm>
          <a:prstGeom prst="roundRect">
            <a:avLst>
              <a:gd name="adj" fmla="val 20000"/>
            </a:avLst>
          </a:prstGeom>
          <a:solidFill>
            <a:srgbClr val="A92A30"/>
          </a:solidFill>
          <a:ln w="12700">
            <a:solidFill>
              <a:srgbClr val="A92A3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8680" y="279806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560320" y="3163824"/>
            <a:ext cx="0" cy="155448"/>
          </a:xfrm>
          <a:prstGeom prst="line">
            <a:avLst/>
          </a:prstGeom>
          <a:noFill/>
          <a:ln w="22225">
            <a:solidFill>
              <a:srgbClr val="3A4A63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68680" y="3319272"/>
            <a:ext cx="3383280" cy="365760"/>
          </a:xfrm>
          <a:prstGeom prst="roundRect">
            <a:avLst>
              <a:gd name="adj" fmla="val 20000"/>
            </a:avLst>
          </a:prstGeom>
          <a:solidFill>
            <a:srgbClr val="A92A30"/>
          </a:solidFill>
          <a:ln w="12700">
            <a:solidFill>
              <a:srgbClr val="A92A3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60120" y="331927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Personalization / Policy / Quality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60320" y="3685032"/>
            <a:ext cx="0" cy="155448"/>
          </a:xfrm>
          <a:prstGeom prst="line">
            <a:avLst/>
          </a:prstGeom>
          <a:noFill/>
          <a:ln w="22225">
            <a:solidFill>
              <a:srgbClr val="3A4A63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051560" y="3840480"/>
            <a:ext cx="3017520" cy="365760"/>
          </a:xfrm>
          <a:prstGeom prst="roundRect">
            <a:avLst>
              <a:gd name="adj" fmla="val 20000"/>
            </a:avLst>
          </a:prstGeom>
          <a:solidFill>
            <a:srgbClr val="D8232A"/>
          </a:solidFill>
          <a:ln w="12700">
            <a:solidFill>
              <a:srgbClr val="D8232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143000" y="38404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Videos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29200" y="1234440"/>
            <a:ext cx="3657600" cy="960120"/>
          </a:xfrm>
          <a:prstGeom prst="roundRect">
            <a:avLst>
              <a:gd name="adj" fmla="val 11429"/>
            </a:avLst>
          </a:prstGeom>
          <a:solidFill>
            <a:srgbClr val="F1F3F7"/>
          </a:solidFill>
          <a:ln w="12700">
            <a:solidFill>
              <a:srgbClr val="F1F3F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212080" y="132588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D8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Candidate generation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the user’s activity and history to pull a smaller set of potentially relevant videos from multiple candidate sources.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029200" y="2331720"/>
            <a:ext cx="3657600" cy="960120"/>
          </a:xfrm>
          <a:prstGeom prst="roundRect">
            <a:avLst>
              <a:gd name="adj" fmla="val 11429"/>
            </a:avLst>
          </a:prstGeom>
          <a:solidFill>
            <a:srgbClr val="F1F3F7"/>
          </a:solidFill>
          <a:ln w="12700">
            <a:solidFill>
              <a:srgbClr val="F1F3F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212080" y="242316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D8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Ranking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the candidate videos to produce an ordered list.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029200" y="3429000"/>
            <a:ext cx="3657600" cy="960120"/>
          </a:xfrm>
          <a:prstGeom prst="roundRect">
            <a:avLst>
              <a:gd name="adj" fmla="val 11429"/>
            </a:avLst>
          </a:prstGeom>
          <a:solidFill>
            <a:srgbClr val="F1F3F7"/>
          </a:solidFill>
          <a:ln w="12700">
            <a:solidFill>
              <a:srgbClr val="F1F3F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212080" y="35204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D8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Final checks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Personalization, policy and quality steps shape the recommended videos shown to the user.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Big Data Characteristics at YouTube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3977640" cy="1371600"/>
          </a:xfrm>
          <a:prstGeom prst="roundRect">
            <a:avLst>
              <a:gd name="adj" fmla="val 8000"/>
            </a:avLst>
          </a:prstGeom>
          <a:solidFill>
            <a:srgbClr val="F1F3F7"/>
          </a:solidFill>
          <a:ln w="12700">
            <a:solidFill>
              <a:srgbClr val="F1F3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645920"/>
            <a:ext cx="548640" cy="548640"/>
          </a:xfrm>
          <a:prstGeom prst="ellipse">
            <a:avLst/>
          </a:prstGeom>
          <a:solidFill>
            <a:srgbClr val="3A4A63"/>
          </a:solidFill>
          <a:ln w="12700">
            <a:solidFill>
              <a:srgbClr val="3A4A63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446" y="1788566"/>
            <a:ext cx="263347" cy="26334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23444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5B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Huge amounts of video and user-event data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709160" y="1234440"/>
            <a:ext cx="3977640" cy="1371600"/>
          </a:xfrm>
          <a:prstGeom prst="roundRect">
            <a:avLst>
              <a:gd name="adj" fmla="val 8000"/>
            </a:avLst>
          </a:prstGeom>
          <a:solidFill>
            <a:srgbClr val="F1F3F7"/>
          </a:solidFill>
          <a:ln w="12700">
            <a:solidFill>
              <a:srgbClr val="F1F3F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937760" y="1645920"/>
            <a:ext cx="548640" cy="548640"/>
          </a:xfrm>
          <a:prstGeom prst="ellipse">
            <a:avLst/>
          </a:prstGeom>
          <a:solidFill>
            <a:srgbClr val="3A4A63"/>
          </a:solidFill>
          <a:ln w="12700">
            <a:solidFill>
              <a:srgbClr val="3A4A63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406" y="1788566"/>
            <a:ext cx="263347" cy="263347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669280" y="123444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5B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generation of user activities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57200" y="2788920"/>
            <a:ext cx="3977640" cy="1371600"/>
          </a:xfrm>
          <a:prstGeom prst="roundRect">
            <a:avLst>
              <a:gd name="adj" fmla="val 8000"/>
            </a:avLst>
          </a:prstGeom>
          <a:solidFill>
            <a:srgbClr val="F1F3F7"/>
          </a:solidFill>
          <a:ln w="12700">
            <a:solidFill>
              <a:srgbClr val="F1F3F7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85800" y="3200400"/>
            <a:ext cx="548640" cy="548640"/>
          </a:xfrm>
          <a:prstGeom prst="ellipse">
            <a:avLst/>
          </a:prstGeom>
          <a:solidFill>
            <a:srgbClr val="3A4A63"/>
          </a:solidFill>
          <a:ln w="12700">
            <a:solidFill>
              <a:srgbClr val="3A4A63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446" y="3343046"/>
            <a:ext cx="263347" cy="263347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417320" y="278892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Variety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5B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Videos, searches, clicks, likes, comments, etc.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4709160" y="2788920"/>
            <a:ext cx="3977640" cy="1371600"/>
          </a:xfrm>
          <a:prstGeom prst="roundRect">
            <a:avLst>
              <a:gd name="adj" fmla="val 8000"/>
            </a:avLst>
          </a:prstGeom>
          <a:solidFill>
            <a:srgbClr val="F1F3F7"/>
          </a:solidFill>
          <a:ln w="12700">
            <a:solidFill>
              <a:srgbClr val="F1F3F7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4937760" y="3200400"/>
            <a:ext cx="548640" cy="548640"/>
          </a:xfrm>
          <a:prstGeom prst="ellipse">
            <a:avLst/>
          </a:prstGeom>
          <a:solidFill>
            <a:srgbClr val="D8232A"/>
          </a:solidFill>
          <a:ln w="12700">
            <a:solidFill>
              <a:srgbClr val="D8232A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80406" y="3343046"/>
            <a:ext cx="263347" cy="263347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669280" y="278892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Veracity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5B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 or inconsistent user signals, such as accidental clicks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7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8229600" cy="658368"/>
          </a:xfrm>
          <a:prstGeom prst="roundRect">
            <a:avLst>
              <a:gd name="adj" fmla="val 16667"/>
            </a:avLst>
          </a:prstGeom>
          <a:solidFill>
            <a:srgbClr val="262C3B"/>
          </a:solidFill>
          <a:ln w="12700">
            <a:solidFill>
              <a:srgbClr val="262C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316736"/>
            <a:ext cx="493776" cy="493776"/>
          </a:xfrm>
          <a:prstGeom prst="ellipse">
            <a:avLst/>
          </a:prstGeom>
          <a:solidFill>
            <a:srgbClr val="D8232A"/>
          </a:solidFill>
          <a:ln w="12700">
            <a:solidFill>
              <a:srgbClr val="D8232A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742" y="1445118"/>
            <a:ext cx="237012" cy="2370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234440"/>
            <a:ext cx="7132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processes large volumes of user-generated content and behavioral events.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57200" y="2039112"/>
            <a:ext cx="8229600" cy="658368"/>
          </a:xfrm>
          <a:prstGeom prst="roundRect">
            <a:avLst>
              <a:gd name="adj" fmla="val 16667"/>
            </a:avLst>
          </a:prstGeom>
          <a:solidFill>
            <a:srgbClr val="262C3B"/>
          </a:solidFill>
          <a:ln w="12700">
            <a:solidFill>
              <a:srgbClr val="262C3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94360" y="2121408"/>
            <a:ext cx="493776" cy="493776"/>
          </a:xfrm>
          <a:prstGeom prst="ellipse">
            <a:avLst/>
          </a:prstGeom>
          <a:solidFill>
            <a:srgbClr val="D8232A"/>
          </a:solidFill>
          <a:ln w="12700">
            <a:solidFill>
              <a:srgbClr val="D8232A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742" y="2249790"/>
            <a:ext cx="237012" cy="23701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25880" y="2039112"/>
            <a:ext cx="7132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Watching, searching and interacting provide important signals.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457200" y="2843784"/>
            <a:ext cx="8229600" cy="658368"/>
          </a:xfrm>
          <a:prstGeom prst="roundRect">
            <a:avLst>
              <a:gd name="adj" fmla="val 16667"/>
            </a:avLst>
          </a:prstGeom>
          <a:solidFill>
            <a:srgbClr val="262C3B"/>
          </a:solidFill>
          <a:ln w="12700">
            <a:solidFill>
              <a:srgbClr val="262C3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594360" y="2926080"/>
            <a:ext cx="493776" cy="493776"/>
          </a:xfrm>
          <a:prstGeom prst="ellipse">
            <a:avLst/>
          </a:prstGeom>
          <a:solidFill>
            <a:srgbClr val="D8232A"/>
          </a:solidFill>
          <a:ln w="12700">
            <a:solidFill>
              <a:srgbClr val="D8232A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742" y="3054462"/>
            <a:ext cx="237012" cy="23701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25880" y="2843784"/>
            <a:ext cx="7132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data infrastructure enables large-scale processing and analytics.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457200" y="3648456"/>
            <a:ext cx="8229600" cy="658368"/>
          </a:xfrm>
          <a:prstGeom prst="roundRect">
            <a:avLst>
              <a:gd name="adj" fmla="val 16667"/>
            </a:avLst>
          </a:prstGeom>
          <a:solidFill>
            <a:srgbClr val="262C3B"/>
          </a:solidFill>
          <a:ln w="12700">
            <a:solidFill>
              <a:srgbClr val="262C3B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594360" y="3730752"/>
            <a:ext cx="493776" cy="493776"/>
          </a:xfrm>
          <a:prstGeom prst="ellipse">
            <a:avLst/>
          </a:prstGeom>
          <a:solidFill>
            <a:srgbClr val="D8232A"/>
          </a:solidFill>
          <a:ln w="12700">
            <a:solidFill>
              <a:srgbClr val="D8232A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2742" y="3859134"/>
            <a:ext cx="237012" cy="23701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325880" y="3648456"/>
            <a:ext cx="7132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Machine-learning candidate generation and ranking turn event data into personalized recommendations.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7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731520"/>
          </a:xfrm>
          <a:prstGeom prst="roundRect">
            <a:avLst>
              <a:gd name="adj" fmla="val 15000"/>
            </a:avLst>
          </a:prstGeom>
          <a:solidFill>
            <a:srgbClr val="262C3B"/>
          </a:solidFill>
          <a:ln w="12700">
            <a:solidFill>
              <a:srgbClr val="262C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307592"/>
            <a:ext cx="493776" cy="493776"/>
          </a:xfrm>
          <a:prstGeom prst="ellipse">
            <a:avLst/>
          </a:prstGeom>
          <a:solidFill>
            <a:srgbClr val="3A4A63"/>
          </a:solidFill>
          <a:ln w="12700">
            <a:solidFill>
              <a:srgbClr val="3A4A63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742" y="1435974"/>
            <a:ext cx="237012" cy="2370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18872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Covington, P., Adams, J., &amp; Sargin, E. (2016). Deep Neural Networks for YouTube Recommendations. ACM RecSys.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2057400"/>
            <a:ext cx="8229600" cy="731520"/>
          </a:xfrm>
          <a:prstGeom prst="roundRect">
            <a:avLst>
              <a:gd name="adj" fmla="val 15000"/>
            </a:avLst>
          </a:prstGeom>
          <a:solidFill>
            <a:srgbClr val="262C3B"/>
          </a:solidFill>
          <a:ln w="12700">
            <a:solidFill>
              <a:srgbClr val="262C3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94360" y="2176272"/>
            <a:ext cx="493776" cy="493776"/>
          </a:xfrm>
          <a:prstGeom prst="ellipse">
            <a:avLst/>
          </a:prstGeom>
          <a:solidFill>
            <a:srgbClr val="3A4A63"/>
          </a:solidFill>
          <a:ln w="12700">
            <a:solidFill>
              <a:srgbClr val="3A4A63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742" y="2304654"/>
            <a:ext cx="237012" cy="23701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25880" y="205740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Davidson, J. et al. (2010). The YouTube Video Recommendation System. ACM RecSys.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57200" y="2926080"/>
            <a:ext cx="8229600" cy="731520"/>
          </a:xfrm>
          <a:prstGeom prst="roundRect">
            <a:avLst>
              <a:gd name="adj" fmla="val 15000"/>
            </a:avLst>
          </a:prstGeom>
          <a:solidFill>
            <a:srgbClr val="262C3B"/>
          </a:solidFill>
          <a:ln w="12700">
            <a:solidFill>
              <a:srgbClr val="262C3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594360" y="3044952"/>
            <a:ext cx="493776" cy="493776"/>
          </a:xfrm>
          <a:prstGeom prst="ellipse">
            <a:avLst/>
          </a:prstGeom>
          <a:solidFill>
            <a:srgbClr val="3A4A63"/>
          </a:solidFill>
          <a:ln w="12700">
            <a:solidFill>
              <a:srgbClr val="3A4A63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742" y="3173334"/>
            <a:ext cx="237012" cy="23701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25880" y="292608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Chattopadhyay, B. et al. (2019). Procella: Unifying Serving and Analytical Data at YouTube. PVLDB.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457200" y="3794760"/>
            <a:ext cx="8229600" cy="731520"/>
          </a:xfrm>
          <a:prstGeom prst="roundRect">
            <a:avLst>
              <a:gd name="adj" fmla="val 15000"/>
            </a:avLst>
          </a:prstGeom>
          <a:solidFill>
            <a:srgbClr val="262C3B"/>
          </a:solidFill>
          <a:ln w="12700">
            <a:solidFill>
              <a:srgbClr val="262C3B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594360" y="3913632"/>
            <a:ext cx="493776" cy="493776"/>
          </a:xfrm>
          <a:prstGeom prst="ellipse">
            <a:avLst/>
          </a:prstGeom>
          <a:solidFill>
            <a:srgbClr val="3A4A63"/>
          </a:solidFill>
          <a:ln w="12700">
            <a:solidFill>
              <a:srgbClr val="3A4A63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742" y="4042014"/>
            <a:ext cx="237012" cy="23701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325880" y="379476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YouTube Dataset with User-level Usage Data: Baseline Characteristics and Key Insights. IEEE ICC 2020.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564</Words>
  <Application>Microsoft Office PowerPoint</Application>
  <PresentationFormat>On-screen Show (16:9)</PresentationFormat>
  <Paragraphs>102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YouTube Processes Billions of User Data Along with User Events</dc:title>
  <dc:subject>PptxGenJS Presentation</dc:subject>
  <dc:creator>PptxGenJS</dc:creator>
  <cp:lastModifiedBy>ITISHA MISHRA</cp:lastModifiedBy>
  <cp:revision>2</cp:revision>
  <dcterms:created xsi:type="dcterms:W3CDTF">2026-09-30T08:37:10Z</dcterms:created>
  <dcterms:modified xsi:type="dcterms:W3CDTF">2026-09-30T08:50:05Z</dcterms:modified>
</cp:coreProperties>
</file>